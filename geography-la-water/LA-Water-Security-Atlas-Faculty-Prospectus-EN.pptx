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5029200"/>
  <p:notesSz cx="50292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029200"/>
          </a:xfrm>
          <a:prstGeom prst="rect">
            <a:avLst/>
          </a:prstGeom>
          <a:solidFill>
            <a:srgbClr val="2A8F9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8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PROSPECTUS  ·  RESEARCH PLATFORM PROPOSAL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Water Security Atlas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Spatial Vulnerability of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California’s Water System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2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 Nozawa  ·  Independent public geography project  ·  Santa Monica College GIS craft applied as method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informal faculty review  ·  Not a course assignment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news site — a research platform anyone can read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0B1F3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research platform that makes Los Angeles’s water system understandable —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lets users see spatial vulnerability for themselves.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36118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514600"/>
            <a:ext cx="73152" cy="1737360"/>
          </a:xfrm>
          <a:prstGeom prst="rect">
            <a:avLst/>
          </a:prstGeom>
          <a:solidFill>
            <a:srgbClr val="0E5F6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6426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2898648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data so users understand risk themselves — not a lecture that tells them what to fear.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51960" y="2514600"/>
            <a:ext cx="36118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2514600"/>
            <a:ext cx="73152" cy="1737360"/>
          </a:xfrm>
          <a:prstGeom prst="rect">
            <a:avLst/>
          </a:prstGeom>
          <a:solidFill>
            <a:srgbClr val="0E5F6B"/>
          </a:solidFill>
          <a:ln/>
        </p:spPr>
      </p:sp>
      <p:sp>
        <p:nvSpPr>
          <p:cNvPr id="13" name="Text 11"/>
          <p:cNvSpPr/>
          <p:nvPr/>
        </p:nvSpPr>
        <p:spPr>
          <a:xfrm>
            <a:off x="4453128" y="26426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question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53128" y="2898648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Los Angeles get its water?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→ metropolitan Los Angeles map (not a world map).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2514600"/>
            <a:ext cx="36118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2514600"/>
            <a:ext cx="73152" cy="1737360"/>
          </a:xfrm>
          <a:prstGeom prst="rect">
            <a:avLst/>
          </a:prstGeom>
          <a:solidFill>
            <a:srgbClr val="0E5F6B"/>
          </a:solidFill>
          <a:ln/>
        </p:spPr>
      </p:sp>
      <p:sp>
        <p:nvSpPr>
          <p:cNvPr id="17" name="Text 15"/>
          <p:cNvSpPr/>
          <p:nvPr/>
        </p:nvSpPr>
        <p:spPr>
          <a:xfrm>
            <a:off x="8247888" y="26426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fit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47888" y="2898648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Human–environment interaction · water security · infrastructure · climate risk · scenario analysis.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28032"/>
            <a:ext cx="12191695" cy="20116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84632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WATER SECURITY ATLAS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498080" y="484632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 NOZAWA  ·  2 / 15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SIGNIFICANCE · 1/2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Los Angeles water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Angeles is a metropolitan water system produced across basins — not a city that drinks only local rain.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1124712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179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8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426464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Multi-source dependency (LADWP)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6642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supplies: Los Angeles Aqueduct (Eastern Sierra), MWD purchases (SWP + Colorado River), local groundwater, and expanding recycled / stormwater capture (LADWP UWMP 2020; Briefing Book 2022–23).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1124712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677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8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17627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L.A. Aqueduct is hydrologically volatile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41401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 share of city supply has ranged roughly 10–50% with snowpack; recent years ~230,000 AF/yr (~75 billion gal). About half of historically exported Eastern Sierra water is now left for Owens/Mono environmental obligations (LADWP).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52928"/>
            <a:ext cx="1124712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0175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8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926080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 years raise import dependence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16382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Sierra snowpack falls, LAA deliveries drop and MWD purchases rise — an inverse relationship that maps vulnerability onto distant SWP and Colorado allocations (LADWP Securing L.A.’s Water Supply, 2008; UWMP series).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602736"/>
            <a:ext cx="1124712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7673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8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67588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Interbasin transfer as urban geography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391363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Metropolitan growth depended on moving water across mountains and deserts (Hundley 2001; Kahrl 1982). The tap is local; the production of water is regional and multi-state.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28032"/>
            <a:ext cx="12191695" cy="20116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84632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WATER SECURITY ATLAS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498080" y="484632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 NOZAWA  ·  3 / 15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SIGNIFICANCE · 2/2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spatial vulnerability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is not only “less water.” It is where risk is produced, how it travels along corridors, and who inherits it.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12471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7218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8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380744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risk is spatially transmitted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60020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 water security is tightly coupled to warming, snowpack decline, and reservoir stress — risks that enter Southern California through shared rivers and mountain source regions (MacDonald 2010; Gleick 2010).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39112"/>
            <a:ext cx="112471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18541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8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09397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River over-allocation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31343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1922 Compact and later operations allocate a river whose twentieth-century assumptions overstate reliable flow; Mead/Powell shortage is a basin-scale stress that travels via the CRA into Southern California (Barnett &amp; Pierce 2008; USBR shortage operations).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52344"/>
            <a:ext cx="112471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986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8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807208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&amp; energy exposure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02666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aqueducts require lift and pumping (e.g., Edmonston / Tehachapi on the SWP). Supply reliability is coupled to energy systems — outage and cost become water-security variables, not side notes.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465576"/>
            <a:ext cx="112471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6118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8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520440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literacy gap = research opportunity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373989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 plans document mix and constraints; public tools rarely let users see cascading spatial risk or compare scenarios without false precision. That is the Atlas design gap.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25196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sources: LADWP UWMP / Briefing Book · Hundley 2001 · Kahrl 1982 · MacDonald 2010 · Barnett &amp; Pierce 2008 · Gleick 2010 · Colorado River Compact / USBR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28032"/>
            <a:ext cx="12191695" cy="20116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84632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WATER SECURITY ATLAS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498080" y="484632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 NOZAWA  ·  4 / 15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Where to Why — and What if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143000"/>
          </a:xfrm>
          <a:prstGeom prst="roundRect">
            <a:avLst>
              <a:gd name="adj" fmla="val 4800"/>
            </a:avLst>
          </a:prstGeom>
          <a:solidFill>
            <a:srgbClr val="E8F2F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716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RQ: How is Southern California’s urban water supply spatially produced and institutionally organized, and what vulnerabilities become visible when climate, drought, population, and energy stress are mapped together?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56235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560320"/>
            <a:ext cx="73152" cy="868680"/>
          </a:xfrm>
          <a:prstGeom prst="rect">
            <a:avLst/>
          </a:prstGeom>
          <a:solidFill>
            <a:srgbClr val="0E5F6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68833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 · Where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294436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sources and corridors supply Los Angeles, and how do their geographies differ?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56235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2560320"/>
            <a:ext cx="73152" cy="868680"/>
          </a:xfrm>
          <a:prstGeom prst="rect">
            <a:avLst/>
          </a:prstGeom>
          <a:solidFill>
            <a:srgbClr val="9A7B3C"/>
          </a:solidFill>
          <a:ln/>
        </p:spPr>
      </p:sp>
      <p:sp>
        <p:nvSpPr>
          <p:cNvPr id="13" name="Text 11"/>
          <p:cNvSpPr/>
          <p:nvPr/>
        </p:nvSpPr>
        <p:spPr>
          <a:xfrm>
            <a:off x="6510528" y="268833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 · Why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10528" y="294436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dependency persist — history, policy, agriculture, interstate compact, urban growth?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56235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520440"/>
            <a:ext cx="73152" cy="868680"/>
          </a:xfrm>
          <a:prstGeom prst="rect">
            <a:avLst/>
          </a:prstGeom>
          <a:solidFill>
            <a:srgbClr val="0E5F6B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64845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RQ3 · Risk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" y="390448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snowpack, drought, population, and energy constraints reshape vulnerability over time?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3520440"/>
            <a:ext cx="56235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3520440"/>
            <a:ext cx="73152" cy="868680"/>
          </a:xfrm>
          <a:prstGeom prst="rect">
            <a:avLst/>
          </a:prstGeom>
          <a:solidFill>
            <a:srgbClr val="9A7B3C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364845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RQ4 · Scenarios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10528" y="390448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alternative futures compare under uncertainty — without claiming a single forecast?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28032"/>
            <a:ext cx="12191695" cy="20116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84632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WATER SECURITY ATLAS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498080" y="484632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 NOZAWA  ·  5 / 15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layers + simulation — one GIS foundation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554480" cy="26060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417320"/>
            <a:ext cx="640080" cy="640080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54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· Owens · SWP · Groundwater · Recycled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29968" y="1234440"/>
            <a:ext cx="1554480" cy="26060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87168" y="1417320"/>
            <a:ext cx="640080" cy="640080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12" name="Text 10"/>
          <p:cNvSpPr/>
          <p:nvPr/>
        </p:nvSpPr>
        <p:spPr>
          <a:xfrm>
            <a:off x="2487168" y="1554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21408" y="2194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21408" y="26517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 → reservoir → aqueduct → treatment → tap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94176" y="1234440"/>
            <a:ext cx="1554480" cy="26060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51376" y="1417320"/>
            <a:ext cx="640080" cy="640080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17" name="Text 15"/>
          <p:cNvSpPr/>
          <p:nvPr/>
        </p:nvSpPr>
        <p:spPr>
          <a:xfrm>
            <a:off x="4151376" y="1554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785616" y="2194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85616" y="26517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· pumps · lift · power · cost · media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58384" y="1234440"/>
            <a:ext cx="1554480" cy="26060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15584" y="1417320"/>
            <a:ext cx="640080" cy="640080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22" name="Text 20"/>
          <p:cNvSpPr/>
          <p:nvPr/>
        </p:nvSpPr>
        <p:spPr>
          <a:xfrm>
            <a:off x="5815584" y="1554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49824" y="2194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9824" y="26517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Snowpack time series · reservoir coupling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022592" y="1234440"/>
            <a:ext cx="1554480" cy="26060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79792" y="1417320"/>
            <a:ext cx="640080" cy="640080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27" name="Text 25"/>
          <p:cNvSpPr/>
          <p:nvPr/>
        </p:nvSpPr>
        <p:spPr>
          <a:xfrm>
            <a:off x="7479792" y="1554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114032" y="2194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Drought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14032" y="26517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 → 2015 → 2022 → 2035 scenarios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686800" y="1234440"/>
            <a:ext cx="1554480" cy="26060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0" y="1417320"/>
            <a:ext cx="640080" cy="640080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0" y="1554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778240" y="2194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778240" y="26517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overlay · growth stress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351008" y="1234440"/>
            <a:ext cx="1554480" cy="26060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808208" y="1417320"/>
            <a:ext cx="640080" cy="640080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37" name="Text 35"/>
          <p:cNvSpPr/>
          <p:nvPr/>
        </p:nvSpPr>
        <p:spPr>
          <a:xfrm>
            <a:off x="10808208" y="1554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442448" y="2194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442448" y="26517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Conveyance power · outage → supply risk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069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Core features: Scenario Simulation  ·  Policy Simulator  ·  “Why” panels (history · policy · compact)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4828032"/>
            <a:ext cx="12191695" cy="20116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484632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WATER SECURITY ATLAS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498080" y="484632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 NOZAWA  ·  6 / 15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 1–3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· Process · Infrastructure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65760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73152" cy="3108960"/>
          </a:xfrm>
          <a:prstGeom prst="rect">
            <a:avLst/>
          </a:prstGeom>
          <a:solidFill>
            <a:srgbClr val="0E5F6B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31673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· Sources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572768"/>
            <a:ext cx="33375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Color-coded supply origins: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Colorado River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Owens Valley / Eastern Sierra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State Water Project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 groundwater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Recycled water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→ annual volume, share ranges, seasonal pattern, recent trend — with uncertainty notes.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1188720"/>
            <a:ext cx="365760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1188720"/>
            <a:ext cx="73152" cy="3108960"/>
          </a:xfrm>
          <a:prstGeom prst="rect">
            <a:avLst/>
          </a:prstGeom>
          <a:solidFill>
            <a:srgbClr val="1F5F7A"/>
          </a:solidFill>
          <a:ln/>
        </p:spPr>
      </p:sp>
      <p:sp>
        <p:nvSpPr>
          <p:cNvPr id="11" name="Text 9"/>
          <p:cNvSpPr/>
          <p:nvPr/>
        </p:nvSpPr>
        <p:spPr>
          <a:xfrm>
            <a:off x="4453128" y="131673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 · How water is made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53128" y="1572768"/>
            <a:ext cx="33375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the common myth: L.A. water is not “created.” It is collected, treated, and conveyed.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Snowpack → Reservoir → Aqueduct → Treatment → Distribution → House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Explorable 3D process view for public literacy.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1188720"/>
            <a:ext cx="365760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188720"/>
            <a:ext cx="73152" cy="3108960"/>
          </a:xfrm>
          <a:prstGeom prst="rect">
            <a:avLst/>
          </a:prstGeom>
          <a:solidFill>
            <a:srgbClr val="9A7B3C"/>
          </a:solidFill>
          <a:ln/>
        </p:spPr>
      </p:sp>
      <p:sp>
        <p:nvSpPr>
          <p:cNvPr id="15" name="Text 13"/>
          <p:cNvSpPr/>
          <p:nvPr/>
        </p:nvSpPr>
        <p:spPr>
          <a:xfrm>
            <a:off x="8247888" y="131673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 · Infrastructure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1572768"/>
            <a:ext cx="33375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dossiers (e.g. Colorado River Aqueduct):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Length · pumping plants · elevation lift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Energy use · build year · O&amp;M context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Photos · video · Street View links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infrastructure a first-class geographic object.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828032"/>
            <a:ext cx="12191695" cy="20116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84632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WATER SECURITY ATLAS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498080" y="484632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 NOZAWA  ·  7 / 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 4–7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· Drought · Population · Energy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623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73152" cy="1417320"/>
          </a:xfrm>
          <a:prstGeom prst="rect">
            <a:avLst/>
          </a:prstGeom>
          <a:solidFill>
            <a:srgbClr val="0E5F6B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31673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 · Climate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57276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Snowpack series (1980–present) beside reservoir relationship — climate signal made spatial.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188720"/>
            <a:ext cx="5623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188720"/>
            <a:ext cx="73152" cy="1417320"/>
          </a:xfrm>
          <a:prstGeom prst="rect">
            <a:avLst/>
          </a:prstGeom>
          <a:solidFill>
            <a:srgbClr val="0E5F6B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31673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5 · Drought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10528" y="157276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Episode path: 2012 → 2015 → 2022 → 2035 scenarios. Stress as history + futures, not a single year.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5623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743200"/>
            <a:ext cx="73152" cy="1417320"/>
          </a:xfrm>
          <a:prstGeom prst="rect">
            <a:avLst/>
          </a:prstGeom>
          <a:solidFill>
            <a:srgbClr val="A85A3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87121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6 · Population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312724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overlay: growth → water demand → shortage pressure. Couples demography to supply geography.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2743200"/>
            <a:ext cx="5623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2743200"/>
            <a:ext cx="73152" cy="1417320"/>
          </a:xfrm>
          <a:prstGeom prst="rect">
            <a:avLst/>
          </a:prstGeom>
          <a:solidFill>
            <a:srgbClr val="A85A3A"/>
          </a:solidFill>
          <a:ln/>
        </p:spPr>
      </p:sp>
      <p:sp>
        <p:nvSpPr>
          <p:cNvPr id="19" name="Text 17"/>
          <p:cNvSpPr/>
          <p:nvPr/>
        </p:nvSpPr>
        <p:spPr>
          <a:xfrm>
            <a:off x="6510528" y="287121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7 · Energy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10528" y="312724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Conveyance is energy-intensive. Outage → pumping stop → supply risk. Links water security to energy security.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28032"/>
            <a:ext cx="12191695" cy="20116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84632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WATER SECURITY ATLAS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498080" y="484632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 NOZAWA  ·  8 / 15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analysis — compare futures, do not declare one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Climate, population, and policy are uncertain. Research and policy analysis rely on “what if” comparison — not single-point prediction.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62356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73152" cy="2606040"/>
          </a:xfrm>
          <a:prstGeom prst="rect">
            <a:avLst/>
          </a:prstGeom>
          <a:solidFill>
            <a:srgbClr val="0E5F6B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72821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Simulation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1984248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Sliders (examples):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Snowpack 100% → 70% → 40% → 20%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Colorado River −20%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outputs update for reservoirs, deliveries, agriculture, households, and power demand — so users see cascading spatial effects.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44068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600200"/>
            <a:ext cx="73152" cy="2606040"/>
          </a:xfrm>
          <a:prstGeom prst="rect">
            <a:avLst/>
          </a:prstGeom>
          <a:solidFill>
            <a:srgbClr val="9A7B3C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172821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Simulator (2035)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64808" y="1984248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population +15%.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portfolios: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Needed water vs shortfall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Recycled water +30%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Desalination option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Groundwater recovery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transparent trade-offs under shared assumptions.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828032"/>
            <a:ext cx="12191695" cy="20116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484632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WATER SECURITY ATLAS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498080" y="484632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 NOZAWA  ·  9 / 15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DEPTH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 product → research platform: answer Why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0B1F3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716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Berkeley / UCLA Geography evaluates not only map craft, but whether the work explains structure, power, history, and institutions.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27889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331720"/>
            <a:ext cx="73152" cy="1920240"/>
          </a:xfrm>
          <a:prstGeom prst="rect">
            <a:avLst/>
          </a:prstGeom>
          <a:solidFill>
            <a:srgbClr val="2A8F9E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4597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2715768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Owens, Colorado, and SWP corridors were built into metropolitan life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2331720"/>
            <a:ext cx="27889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2331720"/>
            <a:ext cx="73152" cy="1920240"/>
          </a:xfrm>
          <a:prstGeom prst="rect">
            <a:avLst/>
          </a:prstGeom>
          <a:solidFill>
            <a:srgbClr val="2A8F9E"/>
          </a:solidFill>
          <a:ln/>
        </p:spPr>
      </p:sp>
      <p:sp>
        <p:nvSpPr>
          <p:cNvPr id="13" name="Text 11"/>
          <p:cNvSpPr/>
          <p:nvPr/>
        </p:nvSpPr>
        <p:spPr>
          <a:xfrm>
            <a:off x="3584448" y="24597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&amp; law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84448" y="2715768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Compacts, court limits, local agreements, wholesale institutions (MWD, LADWP, DWR)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2331720"/>
            <a:ext cx="27889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331720"/>
            <a:ext cx="73152" cy="1920240"/>
          </a:xfrm>
          <a:prstGeom prst="rect">
            <a:avLst/>
          </a:prstGeom>
          <a:solidFill>
            <a:srgbClr val="2A8F9E"/>
          </a:solidFill>
          <a:ln/>
        </p:spPr>
      </p:sp>
      <p:sp>
        <p:nvSpPr>
          <p:cNvPr id="17" name="Text 15"/>
          <p:cNvSpPr/>
          <p:nvPr/>
        </p:nvSpPr>
        <p:spPr>
          <a:xfrm>
            <a:off x="6510528" y="24597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10528" y="2715768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Agriculture, urban growth, and demand management as geographic forces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35440" y="2331720"/>
            <a:ext cx="27889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2331720"/>
            <a:ext cx="73152" cy="1920240"/>
          </a:xfrm>
          <a:prstGeom prst="rect">
            <a:avLst/>
          </a:prstGeom>
          <a:solidFill>
            <a:srgbClr val="2A8F9E"/>
          </a:solidFill>
          <a:ln/>
        </p:spPr>
      </p:sp>
      <p:sp>
        <p:nvSpPr>
          <p:cNvPr id="21" name="Text 19"/>
          <p:cNvSpPr/>
          <p:nvPr/>
        </p:nvSpPr>
        <p:spPr>
          <a:xfrm>
            <a:off x="9436608" y="24597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Energy–water nexus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436608" y="2715768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Lift, pumping, and outage risk as coupled infrastructure security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28032"/>
            <a:ext cx="12191695" cy="20116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84632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WATER SECURITY ATLAS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498080" y="484632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 NOZAWA  ·  10 / 15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TECHNOLOGY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Authoritative sources · transparent methods · open stack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62356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73152" cy="3108960"/>
          </a:xfrm>
          <a:prstGeom prst="rect">
            <a:avLst/>
          </a:prstGeom>
          <a:solidFill>
            <a:srgbClr val="0E5F6B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31673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data sources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572768"/>
            <a:ext cx="53035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LADWP Urban Water Management Plans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Metropolitan Water District (MWD)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California DWR / State Water Project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U.S. Bureau of Reclamation (Colorado)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USGS / state hydrography &amp; basins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NASA / climate &amp; snow products (as appropriate)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U.S. Census / ACS (population &amp; demand context)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layers: access dates, limits, and no false-precision shares.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188720"/>
            <a:ext cx="544068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188720"/>
            <a:ext cx="73152" cy="3108960"/>
          </a:xfrm>
          <a:prstGeom prst="rect">
            <a:avLst/>
          </a:prstGeom>
          <a:solidFill>
            <a:srgbClr val="1F5F7A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131673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stack (v1 → v2)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64808" y="1572768"/>
            <a:ext cx="51206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(live prototype):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map essay + scroll-linked corridors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platform: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 GIS (MapLibre / ArcGIS)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Time-series dashboards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Scenario engine (rules + models)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Optional LLM “explain Why” panels grounded in cited sources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Hosting: static + serverless APIs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Ethics: schematic corridors labeled; not a legal rights atlas.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828032"/>
            <a:ext cx="12191695" cy="20116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484632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WATER SECURITY ATLAS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498080" y="484632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 NOZAWA  ·  11 / 15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1–3 — then California Resource Security Atlas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65760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8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water story + methods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legible source→tap narrative; academic sources; faculty feedback on scope &amp; cartography.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188720"/>
            <a:ext cx="365760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8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6280" y="1691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layers + dossiers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21945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Sources, process, infrastructure panels; climate/drought time series; energy–water link.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188720"/>
            <a:ext cx="365760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8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66760" y="1691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+ policy compare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66760" y="21945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Snowpack/Colorado sliders; 2035 portfolio compare; documented assumptions &amp; uncertainty.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11247120" cy="868680"/>
          </a:xfrm>
          <a:prstGeom prst="roundRect">
            <a:avLst>
              <a:gd name="adj" fmla="val 6316"/>
            </a:avLst>
          </a:prstGeom>
          <a:solidFill>
            <a:srgbClr val="0B1F33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7490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Horizon: California Resource Security Atlas — Water · Energy · Wildfire · Housing · Ports · Earthquakes — same GIS spine.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828032"/>
            <a:ext cx="12191695" cy="20116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84632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WATER SECURITY ATLAS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498080" y="484632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 NOZAWA  ·  12 / 15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ALIGNMENT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fits UC Berkeley &amp; UCLA Geography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62356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73152" cy="3108960"/>
          </a:xfrm>
          <a:prstGeom prst="rect">
            <a:avLst/>
          </a:prstGeom>
          <a:solidFill>
            <a:srgbClr val="0E5F6B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31673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 Berkeley Geography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572768"/>
            <a:ext cx="53035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Emphasizes human–environment systems, critical infrastructure, climate adaptation, and spatial analysis that asks why patterns exist.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pairs public cartography with scenario analysis and institutional explanation — not decoration maps.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188720"/>
            <a:ext cx="544068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188720"/>
            <a:ext cx="73152" cy="3108960"/>
          </a:xfrm>
          <a:prstGeom prst="rect">
            <a:avLst/>
          </a:prstGeom>
          <a:solidFill>
            <a:srgbClr val="1F5F7A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131673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UCLA Geography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64808" y="1572768"/>
            <a:ext cx="51206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tradition in urban environment, water resources of the Southwest, GIS, and applied spatial science in Southern California.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L.A. as study area + regional hydrosocial system is a natural fit for portfolio and later research.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828032"/>
            <a:ext cx="12191695" cy="20116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484632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WATER SECURITY ATLAS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498080" y="484632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 NOZAWA  ·  13 / 15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 &amp;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success looks like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623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73152" cy="1417320"/>
          </a:xfrm>
          <a:prstGeom prst="rect">
            <a:avLst/>
          </a:prstGeom>
          <a:solidFill>
            <a:srgbClr val="0E5F6B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31673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literacy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57276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non-specialist can explain L.A. water sources, corridors, and key risks after using the site.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188720"/>
            <a:ext cx="5623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188720"/>
            <a:ext cx="73152" cy="1417320"/>
          </a:xfrm>
          <a:prstGeom prst="rect">
            <a:avLst/>
          </a:prstGeom>
          <a:solidFill>
            <a:srgbClr val="0E5F6B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31673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readiness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10528" y="157276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methods, sources, and scenario assumptions suitable for faculty critique.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5623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743200"/>
            <a:ext cx="73152" cy="1417320"/>
          </a:xfrm>
          <a:prstGeom prst="rect">
            <a:avLst/>
          </a:prstGeom>
          <a:solidFill>
            <a:srgbClr val="0E5F6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87121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signal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312724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Transfer-ready artifact: independent, spatial, policy-aware, expandable beyond water.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2743200"/>
            <a:ext cx="5623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2743200"/>
            <a:ext cx="73152" cy="1417320"/>
          </a:xfrm>
          <a:prstGeom prst="rect">
            <a:avLst/>
          </a:prstGeom>
          <a:solidFill>
            <a:srgbClr val="0E5F6B"/>
          </a:solidFill>
          <a:ln/>
        </p:spPr>
      </p:sp>
      <p:sp>
        <p:nvSpPr>
          <p:cNvPr id="19" name="Text 17"/>
          <p:cNvSpPr/>
          <p:nvPr/>
        </p:nvSpPr>
        <p:spPr>
          <a:xfrm>
            <a:off x="6510528" y="287121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value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10528" y="312724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education and civic discussion without claiming official agency endorsement.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28032"/>
            <a:ext cx="12191695" cy="20116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84632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WATER SECURITY ATLAS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498080" y="484632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 NOZAWA  ·  14 / 15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FOR FEEDBACK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am asking faculty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527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Is the Phase 1 → Phase 3 scope realistic for a strong independent project?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124712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013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Which datasets are most trustworthy for public synthesis vs. research-grade analysis?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1124712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500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Where is the ethical line between helpful simplification and misleading cartography?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1124712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8986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Which “Why” panels (history, compact, energy–water) should be prioritized first?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1124712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5D2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4472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Would GIS 27 / Independent Study / informal mentorship be appropriate later?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4828032"/>
            <a:ext cx="12191695" cy="20116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484632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WATER SECURITY ATLAS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498080" y="484632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 NOZAWA  ·  15 / 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Water Security Atlas — Faculty Prospectus</dc:title>
  <dc:subject>LA Water Security Atlas — Faculty Prospectus</dc:subject>
  <dc:creator>Kai Nozawa</dc:creator>
  <cp:lastModifiedBy>Kai Nozawa</cp:lastModifiedBy>
  <cp:revision>1</cp:revision>
  <dcterms:created xsi:type="dcterms:W3CDTF">2026-08-21T00:16:33Z</dcterms:created>
  <dcterms:modified xsi:type="dcterms:W3CDTF">2026-08-21T00:16:33Z</dcterms:modified>
</cp:coreProperties>
</file>