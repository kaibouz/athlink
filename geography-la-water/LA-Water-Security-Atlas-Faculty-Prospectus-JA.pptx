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5029200"/>
  <p:notesSz cx="50292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5029200"/>
          </a:xfrm>
          <a:prstGeom prst="rect">
            <a:avLst/>
          </a:prstGeom>
          <a:solidFill>
            <a:srgbClr val="0B1F33"/>
          </a:solidFill>
          <a:ln/>
        </p:spPr>
      </p:sp>
      <p:sp>
        <p:nvSpPr>
          <p:cNvPr id="3" name="Shape 1"/>
          <p:cNvSpPr/>
          <p:nvPr/>
        </p:nvSpPr>
        <p:spPr>
          <a:xfrm>
            <a:off x="0" y="0"/>
            <a:ext cx="164592" cy="5029200"/>
          </a:xfrm>
          <a:prstGeom prst="rect">
            <a:avLst/>
          </a:prstGeom>
          <a:solidFill>
            <a:srgbClr val="2A8F9E"/>
          </a:solidFill>
          <a:ln/>
        </p:spPr>
      </p:sp>
      <p:sp>
        <p:nvSpPr>
          <p:cNvPr id="4" name="Text 2"/>
          <p:cNvSpPr/>
          <p:nvPr/>
        </p:nvSpPr>
        <p:spPr>
          <a:xfrm>
            <a:off x="640080" y="1051560"/>
            <a:ext cx="10515600" cy="274320"/>
          </a:xfrm>
          <a:prstGeom prst="rect">
            <a:avLst/>
          </a:prstGeom>
          <a:noFill/>
          <a:ln/>
        </p:spPr>
        <p:txBody>
          <a:bodyPr wrap="square" lIns="0" tIns="0" rIns="0" bIns="0" rtlCol="0" anchor="ctr"/>
          <a:lstStyle/>
          <a:p>
            <a:pPr indent="0" marL="0">
              <a:buNone/>
            </a:pPr>
            <a:r>
              <a:rPr lang="en-US" sz="1200" b="1" spc="200" kern="0" dirty="0">
                <a:solidFill>
                  <a:srgbClr val="2A8F9E"/>
                </a:solidFill>
                <a:latin typeface="Arial" pitchFamily="34" charset="0"/>
                <a:ea typeface="Arial" pitchFamily="34" charset="-122"/>
                <a:cs typeface="Arial" pitchFamily="34" charset="-120"/>
              </a:rPr>
              <a:t>教授向け資料  ·  研究プラットフォーム提案</a:t>
            </a:r>
            <a:endParaRPr lang="en-US" sz="1200" dirty="0"/>
          </a:p>
        </p:txBody>
      </p:sp>
      <p:sp>
        <p:nvSpPr>
          <p:cNvPr id="5" name="Text 3"/>
          <p:cNvSpPr/>
          <p:nvPr/>
        </p:nvSpPr>
        <p:spPr>
          <a:xfrm>
            <a:off x="640080" y="1463040"/>
            <a:ext cx="10515600" cy="64008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LA Water Security Atlas</a:t>
            </a:r>
            <a:endParaRPr lang="en-US" sz="3800" dirty="0"/>
          </a:p>
        </p:txBody>
      </p:sp>
      <p:sp>
        <p:nvSpPr>
          <p:cNvPr id="6" name="Text 4"/>
          <p:cNvSpPr/>
          <p:nvPr/>
        </p:nvSpPr>
        <p:spPr>
          <a:xfrm>
            <a:off x="640080" y="2240280"/>
            <a:ext cx="9601200" cy="822960"/>
          </a:xfrm>
          <a:prstGeom prst="rect">
            <a:avLst/>
          </a:prstGeom>
          <a:noFill/>
          <a:ln/>
        </p:spPr>
        <p:txBody>
          <a:bodyPr wrap="square" lIns="0" tIns="0" rIns="0" bIns="0" rtlCol="0" anchor="ctr"/>
          <a:lstStyle/>
          <a:p>
            <a:pPr indent="0" marL="0">
              <a:buNone/>
            </a:pPr>
            <a:r>
              <a:rPr lang="en-US" sz="1800" dirty="0">
                <a:solidFill>
                  <a:srgbClr val="E8F2F3"/>
                </a:solidFill>
                <a:latin typeface="Arial" pitchFamily="34" charset="0"/>
                <a:ea typeface="Arial" pitchFamily="34" charset="-122"/>
                <a:cs typeface="Arial" pitchFamily="34" charset="-120"/>
              </a:rPr>
              <a:t>南カリフォルニアの水システムの</a:t>
            </a:r>
            <a:endParaRPr lang="en-US" sz="1800" dirty="0"/>
          </a:p>
          <a:p>
            <a:pPr indent="0" marL="0">
              <a:buNone/>
            </a:pPr>
            <a:r>
              <a:rPr lang="en-US" sz="1800" dirty="0">
                <a:solidFill>
                  <a:srgbClr val="E8F2F3"/>
                </a:solidFill>
                <a:latin typeface="Arial" pitchFamily="34" charset="0"/>
                <a:ea typeface="Arial" pitchFamily="34" charset="-122"/>
                <a:cs typeface="Arial" pitchFamily="34" charset="-120"/>
              </a:rPr>
              <a:t>空間的脆弱性を理解する</a:t>
            </a:r>
            <a:endParaRPr lang="en-US" sz="1800" dirty="0"/>
          </a:p>
        </p:txBody>
      </p:sp>
      <p:sp>
        <p:nvSpPr>
          <p:cNvPr id="7" name="Text 5"/>
          <p:cNvSpPr/>
          <p:nvPr/>
        </p:nvSpPr>
        <p:spPr>
          <a:xfrm>
            <a:off x="640080" y="3840480"/>
            <a:ext cx="10515600" cy="274320"/>
          </a:xfrm>
          <a:prstGeom prst="rect">
            <a:avLst/>
          </a:prstGeom>
          <a:noFill/>
          <a:ln/>
        </p:spPr>
        <p:txBody>
          <a:bodyPr wrap="square" lIns="0" tIns="0" rIns="0" bIns="0" rtlCol="0" anchor="ctr"/>
          <a:lstStyle/>
          <a:p>
            <a:pPr indent="0" marL="0">
              <a:buNone/>
            </a:pPr>
            <a:r>
              <a:rPr lang="en-US" sz="1200" dirty="0">
                <a:solidFill>
                  <a:srgbClr val="C5D2D4"/>
                </a:solidFill>
                <a:latin typeface="Arial" pitchFamily="34" charset="0"/>
                <a:ea typeface="Arial" pitchFamily="34" charset="-122"/>
                <a:cs typeface="Arial" pitchFamily="34" charset="-120"/>
              </a:rPr>
              <a:t>野澤カイ  ·  独立した公開地理学プロジェクト  ·  SMC GISの技術を方法として応用</a:t>
            </a:r>
            <a:endParaRPr lang="en-US" sz="1200" dirty="0"/>
          </a:p>
        </p:txBody>
      </p:sp>
      <p:sp>
        <p:nvSpPr>
          <p:cNvPr id="8" name="Text 6"/>
          <p:cNvSpPr/>
          <p:nvPr/>
        </p:nvSpPr>
        <p:spPr>
          <a:xfrm>
            <a:off x="640080" y="4160520"/>
            <a:ext cx="10515600" cy="228600"/>
          </a:xfrm>
          <a:prstGeom prst="rect">
            <a:avLst/>
          </a:prstGeom>
          <a:noFill/>
          <a:ln/>
        </p:spPr>
        <p:txBody>
          <a:bodyPr wrap="square" lIns="0" tIns="0" rIns="0" bIns="0" rtlCol="0" anchor="ctr"/>
          <a:lstStyle/>
          <a:p>
            <a:pPr indent="0" marL="0">
              <a:buNone/>
            </a:pPr>
            <a:r>
              <a:rPr lang="en-US" sz="1100" dirty="0">
                <a:solidFill>
                  <a:srgbClr val="5A6B73"/>
                </a:solidFill>
                <a:latin typeface="Arial" pitchFamily="34" charset="0"/>
                <a:ea typeface="Arial" pitchFamily="34" charset="-122"/>
                <a:cs typeface="Arial" pitchFamily="34" charset="-120"/>
              </a:rPr>
              <a:t>非公式な教員レビュー用  ·  授業課題ではありません</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029200"/>
          </a:xfrm>
          <a:prstGeom prst="rect">
            <a:avLst/>
          </a:prstGeom>
          <a:solidFill>
            <a:srgbClr val="F4F6F5"/>
          </a:solidFill>
          <a:ln/>
        </p:spPr>
      </p:sp>
      <p:sp>
        <p:nvSpPr>
          <p:cNvPr id="3" name="Text 1"/>
          <p:cNvSpPr/>
          <p:nvPr/>
        </p:nvSpPr>
        <p:spPr>
          <a:xfrm>
            <a:off x="457200" y="256032"/>
            <a:ext cx="11247120" cy="256032"/>
          </a:xfrm>
          <a:prstGeom prst="rect">
            <a:avLst/>
          </a:prstGeom>
          <a:noFill/>
          <a:ln/>
        </p:spPr>
        <p:txBody>
          <a:bodyPr wrap="square" lIns="0" tIns="0" rIns="0" bIns="0" rtlCol="0" anchor="ctr"/>
          <a:lstStyle/>
          <a:p>
            <a:pPr indent="0" marL="0">
              <a:buNone/>
            </a:pPr>
            <a:r>
              <a:rPr lang="en-US" sz="1100" b="1" spc="200" kern="0" dirty="0">
                <a:solidFill>
                  <a:srgbClr val="0E5F6B"/>
                </a:solidFill>
                <a:latin typeface="Arial" pitchFamily="34" charset="0"/>
                <a:ea typeface="Arial" pitchFamily="34" charset="-122"/>
                <a:cs typeface="Arial" pitchFamily="34" charset="-120"/>
              </a:rPr>
              <a:t>位置づけ</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400" b="1" dirty="0">
                <a:solidFill>
                  <a:srgbClr val="0B1F33"/>
                </a:solidFill>
                <a:latin typeface="Arial" pitchFamily="34" charset="0"/>
                <a:ea typeface="Arial" pitchFamily="34" charset="-122"/>
                <a:cs typeface="Arial" pitchFamily="34" charset="-120"/>
              </a:rPr>
              <a:t>ニュースサイトではない — 誰でも読める研究プラットフォーム</a:t>
            </a:r>
            <a:endParaRPr lang="en-US" sz="2400" dirty="0"/>
          </a:p>
        </p:txBody>
      </p:sp>
      <p:sp>
        <p:nvSpPr>
          <p:cNvPr id="5" name="Shape 3"/>
          <p:cNvSpPr/>
          <p:nvPr/>
        </p:nvSpPr>
        <p:spPr>
          <a:xfrm>
            <a:off x="457200" y="1234440"/>
            <a:ext cx="11247120" cy="1051560"/>
          </a:xfrm>
          <a:prstGeom prst="roundRect">
            <a:avLst>
              <a:gd name="adj" fmla="val 5217"/>
            </a:avLst>
          </a:prstGeom>
          <a:solidFill>
            <a:srgbClr val="0B1F33"/>
          </a:solidFill>
          <a:ln/>
        </p:spPr>
      </p:sp>
      <p:sp>
        <p:nvSpPr>
          <p:cNvPr id="6" name="Text 4"/>
          <p:cNvSpPr/>
          <p:nvPr/>
        </p:nvSpPr>
        <p:spPr>
          <a:xfrm>
            <a:off x="685800" y="1417320"/>
            <a:ext cx="10789920" cy="68580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ロサンゼルスの水システムを理解可能にし、</a:t>
            </a:r>
            <a:endParaRPr lang="en-US" sz="1700" dirty="0"/>
          </a:p>
          <a:p>
            <a:pPr indent="0" marL="0">
              <a:buNone/>
            </a:pPr>
            <a:r>
              <a:rPr lang="en-US" sz="1700" dirty="0">
                <a:solidFill>
                  <a:srgbClr val="FFFFFF"/>
                </a:solidFill>
                <a:latin typeface="Arial" pitchFamily="34" charset="0"/>
                <a:ea typeface="Arial" pitchFamily="34" charset="-122"/>
                <a:cs typeface="Arial" pitchFamily="34" charset="-120"/>
              </a:rPr>
              <a:t>ユーザー自身が空間的脆弱性を見抜ける研究プラットフォーム。</a:t>
            </a:r>
            <a:endParaRPr lang="en-US" sz="1700" dirty="0"/>
          </a:p>
        </p:txBody>
      </p:sp>
      <p:sp>
        <p:nvSpPr>
          <p:cNvPr id="7" name="Shape 5"/>
          <p:cNvSpPr/>
          <p:nvPr/>
        </p:nvSpPr>
        <p:spPr>
          <a:xfrm>
            <a:off x="457200" y="2514600"/>
            <a:ext cx="3611880" cy="1737360"/>
          </a:xfrm>
          <a:prstGeom prst="roundRect">
            <a:avLst>
              <a:gd name="adj" fmla="val 3158"/>
            </a:avLst>
          </a:prstGeom>
          <a:solidFill>
            <a:srgbClr val="FFFFFF"/>
          </a:solidFill>
          <a:ln w="12700">
            <a:solidFill>
              <a:srgbClr val="C5D2D4"/>
            </a:solidFill>
            <a:prstDash val="solid"/>
          </a:ln>
        </p:spPr>
      </p:sp>
      <p:sp>
        <p:nvSpPr>
          <p:cNvPr id="8" name="Shape 6"/>
          <p:cNvSpPr/>
          <p:nvPr/>
        </p:nvSpPr>
        <p:spPr>
          <a:xfrm>
            <a:off x="457200" y="2514600"/>
            <a:ext cx="73152" cy="1737360"/>
          </a:xfrm>
          <a:prstGeom prst="rect">
            <a:avLst/>
          </a:prstGeom>
          <a:solidFill>
            <a:srgbClr val="0E5F6B"/>
          </a:solidFill>
          <a:ln/>
        </p:spPr>
      </p:sp>
      <p:sp>
        <p:nvSpPr>
          <p:cNvPr id="9" name="Text 7"/>
          <p:cNvSpPr/>
          <p:nvPr/>
        </p:nvSpPr>
        <p:spPr>
          <a:xfrm>
            <a:off x="658368" y="2642616"/>
            <a:ext cx="329184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設計原則</a:t>
            </a:r>
            <a:endParaRPr lang="en-US" sz="1200" dirty="0"/>
          </a:p>
        </p:txBody>
      </p:sp>
      <p:sp>
        <p:nvSpPr>
          <p:cNvPr id="10" name="Text 8"/>
          <p:cNvSpPr/>
          <p:nvPr/>
        </p:nvSpPr>
        <p:spPr>
          <a:xfrm>
            <a:off x="658368" y="2898648"/>
            <a:ext cx="3291840" cy="123444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データを見せた結果、ユーザー自身がリスクを理解できる。恐れを教える講義ではない。</a:t>
            </a:r>
            <a:endParaRPr lang="en-US" sz="1100" dirty="0"/>
          </a:p>
        </p:txBody>
      </p:sp>
      <p:sp>
        <p:nvSpPr>
          <p:cNvPr id="11" name="Shape 9"/>
          <p:cNvSpPr/>
          <p:nvPr/>
        </p:nvSpPr>
        <p:spPr>
          <a:xfrm>
            <a:off x="4251960" y="2514600"/>
            <a:ext cx="3611880" cy="1737360"/>
          </a:xfrm>
          <a:prstGeom prst="roundRect">
            <a:avLst>
              <a:gd name="adj" fmla="val 3158"/>
            </a:avLst>
          </a:prstGeom>
          <a:solidFill>
            <a:srgbClr val="FFFFFF"/>
          </a:solidFill>
          <a:ln w="12700">
            <a:solidFill>
              <a:srgbClr val="C5D2D4"/>
            </a:solidFill>
            <a:prstDash val="solid"/>
          </a:ln>
        </p:spPr>
      </p:sp>
      <p:sp>
        <p:nvSpPr>
          <p:cNvPr id="12" name="Shape 10"/>
          <p:cNvSpPr/>
          <p:nvPr/>
        </p:nvSpPr>
        <p:spPr>
          <a:xfrm>
            <a:off x="4251960" y="2514600"/>
            <a:ext cx="73152" cy="1737360"/>
          </a:xfrm>
          <a:prstGeom prst="rect">
            <a:avLst/>
          </a:prstGeom>
          <a:solidFill>
            <a:srgbClr val="0E5F6B"/>
          </a:solidFill>
          <a:ln/>
        </p:spPr>
      </p:sp>
      <p:sp>
        <p:nvSpPr>
          <p:cNvPr id="13" name="Text 11"/>
          <p:cNvSpPr/>
          <p:nvPr/>
        </p:nvSpPr>
        <p:spPr>
          <a:xfrm>
            <a:off x="4453128" y="2642616"/>
            <a:ext cx="329184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入口の問い</a:t>
            </a:r>
            <a:endParaRPr lang="en-US" sz="1200" dirty="0"/>
          </a:p>
        </p:txBody>
      </p:sp>
      <p:sp>
        <p:nvSpPr>
          <p:cNvPr id="14" name="Text 12"/>
          <p:cNvSpPr/>
          <p:nvPr/>
        </p:nvSpPr>
        <p:spPr>
          <a:xfrm>
            <a:off x="4453128" y="2898648"/>
            <a:ext cx="3291840" cy="123444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Where does Los Angeles get its water?</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クリック → LA広域地図（世界地図ではない）。</a:t>
            </a:r>
            <a:endParaRPr lang="en-US" sz="1100" dirty="0"/>
          </a:p>
        </p:txBody>
      </p:sp>
      <p:sp>
        <p:nvSpPr>
          <p:cNvPr id="15" name="Shape 13"/>
          <p:cNvSpPr/>
          <p:nvPr/>
        </p:nvSpPr>
        <p:spPr>
          <a:xfrm>
            <a:off x="8046720" y="2514600"/>
            <a:ext cx="3611880" cy="1737360"/>
          </a:xfrm>
          <a:prstGeom prst="roundRect">
            <a:avLst>
              <a:gd name="adj" fmla="val 3158"/>
            </a:avLst>
          </a:prstGeom>
          <a:solidFill>
            <a:srgbClr val="FFFFFF"/>
          </a:solidFill>
          <a:ln w="12700">
            <a:solidFill>
              <a:srgbClr val="C5D2D4"/>
            </a:solidFill>
            <a:prstDash val="solid"/>
          </a:ln>
        </p:spPr>
      </p:sp>
      <p:sp>
        <p:nvSpPr>
          <p:cNvPr id="16" name="Shape 14"/>
          <p:cNvSpPr/>
          <p:nvPr/>
        </p:nvSpPr>
        <p:spPr>
          <a:xfrm>
            <a:off x="8046720" y="2514600"/>
            <a:ext cx="73152" cy="1737360"/>
          </a:xfrm>
          <a:prstGeom prst="rect">
            <a:avLst/>
          </a:prstGeom>
          <a:solidFill>
            <a:srgbClr val="0E5F6B"/>
          </a:solidFill>
          <a:ln/>
        </p:spPr>
      </p:sp>
      <p:sp>
        <p:nvSpPr>
          <p:cNvPr id="17" name="Text 15"/>
          <p:cNvSpPr/>
          <p:nvPr/>
        </p:nvSpPr>
        <p:spPr>
          <a:xfrm>
            <a:off x="8247888" y="2642616"/>
            <a:ext cx="329184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学術的適合</a:t>
            </a:r>
            <a:endParaRPr lang="en-US" sz="1200" dirty="0"/>
          </a:p>
        </p:txBody>
      </p:sp>
      <p:sp>
        <p:nvSpPr>
          <p:cNvPr id="18" name="Text 16"/>
          <p:cNvSpPr/>
          <p:nvPr/>
        </p:nvSpPr>
        <p:spPr>
          <a:xfrm>
            <a:off x="8247888" y="2898648"/>
            <a:ext cx="3291840" cy="123444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人間と環境の相互作用 · 水安全保障 · インフラ · 気候リスク · シナリオ分析。</a:t>
            </a:r>
            <a:endParaRPr lang="en-US" sz="1100" dirty="0"/>
          </a:p>
        </p:txBody>
      </p:sp>
      <p:sp>
        <p:nvSpPr>
          <p:cNvPr id="19" name="Shape 17"/>
          <p:cNvSpPr/>
          <p:nvPr/>
        </p:nvSpPr>
        <p:spPr>
          <a:xfrm>
            <a:off x="0" y="4828032"/>
            <a:ext cx="12191695" cy="201168"/>
          </a:xfrm>
          <a:prstGeom prst="rect">
            <a:avLst/>
          </a:prstGeom>
          <a:solidFill>
            <a:srgbClr val="0B1F33"/>
          </a:solidFill>
          <a:ln/>
        </p:spPr>
      </p:sp>
      <p:sp>
        <p:nvSpPr>
          <p:cNvPr id="20" name="Text 18"/>
          <p:cNvSpPr/>
          <p:nvPr/>
        </p:nvSpPr>
        <p:spPr>
          <a:xfrm>
            <a:off x="365760" y="4846320"/>
            <a:ext cx="5486400" cy="164592"/>
          </a:xfrm>
          <a:prstGeom prst="rect">
            <a:avLst/>
          </a:prstGeom>
          <a:noFill/>
          <a:ln/>
        </p:spPr>
        <p:txBody>
          <a:bodyPr wrap="square" lIns="0" tIns="0" rIns="0" bIns="0" rtlCol="0" anchor="ctr"/>
          <a:lstStyle/>
          <a:p>
            <a:pPr indent="0" marL="0">
              <a:buNone/>
            </a:pPr>
            <a:r>
              <a:rPr lang="en-US" sz="800" b="1" dirty="0">
                <a:solidFill>
                  <a:srgbClr val="E8F2F3"/>
                </a:solidFill>
                <a:latin typeface="Arial" pitchFamily="34" charset="0"/>
                <a:ea typeface="Arial" pitchFamily="34" charset="-122"/>
                <a:cs typeface="Arial" pitchFamily="34" charset="-120"/>
              </a:rPr>
              <a:t>LA WATER SECURITY ATLAS</a:t>
            </a:r>
            <a:endParaRPr lang="en-US" sz="800" dirty="0"/>
          </a:p>
        </p:txBody>
      </p:sp>
      <p:sp>
        <p:nvSpPr>
          <p:cNvPr id="21" name="Text 19"/>
          <p:cNvSpPr/>
          <p:nvPr/>
        </p:nvSpPr>
        <p:spPr>
          <a:xfrm>
            <a:off x="7498080" y="4846320"/>
            <a:ext cx="4297680" cy="164592"/>
          </a:xfrm>
          <a:prstGeom prst="rect">
            <a:avLst/>
          </a:prstGeom>
          <a:noFill/>
          <a:ln/>
        </p:spPr>
        <p:txBody>
          <a:bodyPr wrap="square" lIns="0" tIns="0" rIns="0" bIns="0" rtlCol="0" anchor="ctr"/>
          <a:lstStyle/>
          <a:p>
            <a:pPr algn="r" indent="0" marL="0">
              <a:buNone/>
            </a:pPr>
            <a:r>
              <a:rPr lang="en-US" sz="800" dirty="0">
                <a:solidFill>
                  <a:srgbClr val="E8F2F3"/>
                </a:solidFill>
                <a:latin typeface="Arial" pitchFamily="34" charset="0"/>
                <a:ea typeface="Arial" pitchFamily="34" charset="-122"/>
                <a:cs typeface="Arial" pitchFamily="34" charset="-120"/>
              </a:rPr>
              <a:t>野澤カイ  ·  2 / 15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029200"/>
          </a:xfrm>
          <a:prstGeom prst="rect">
            <a:avLst/>
          </a:prstGeom>
          <a:solidFill>
            <a:srgbClr val="F4F6F5"/>
          </a:solidFill>
          <a:ln/>
        </p:spPr>
      </p:sp>
      <p:sp>
        <p:nvSpPr>
          <p:cNvPr id="3" name="Text 1"/>
          <p:cNvSpPr/>
          <p:nvPr/>
        </p:nvSpPr>
        <p:spPr>
          <a:xfrm>
            <a:off x="457200" y="256032"/>
            <a:ext cx="11247120" cy="256032"/>
          </a:xfrm>
          <a:prstGeom prst="rect">
            <a:avLst/>
          </a:prstGeom>
          <a:noFill/>
          <a:ln/>
        </p:spPr>
        <p:txBody>
          <a:bodyPr wrap="square" lIns="0" tIns="0" rIns="0" bIns="0" rtlCol="0" anchor="ctr"/>
          <a:lstStyle/>
          <a:p>
            <a:pPr indent="0" marL="0">
              <a:buNone/>
            </a:pPr>
            <a:r>
              <a:rPr lang="en-US" sz="1100" b="1" spc="200" kern="0" dirty="0">
                <a:solidFill>
                  <a:srgbClr val="0E5F6B"/>
                </a:solidFill>
                <a:latin typeface="Arial" pitchFamily="34" charset="0"/>
                <a:ea typeface="Arial" pitchFamily="34" charset="-122"/>
                <a:cs typeface="Arial" pitchFamily="34" charset="-120"/>
              </a:rPr>
              <a:t>問題と意義 · 1/2</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400" b="1" dirty="0">
                <a:solidFill>
                  <a:srgbClr val="0B1F33"/>
                </a:solidFill>
                <a:latin typeface="Arial" pitchFamily="34" charset="0"/>
                <a:ea typeface="Arial" pitchFamily="34" charset="-122"/>
                <a:cs typeface="Arial" pitchFamily="34" charset="-120"/>
              </a:rPr>
              <a:t>なぜLAの水か</a:t>
            </a:r>
            <a:endParaRPr lang="en-US" sz="2400" dirty="0"/>
          </a:p>
        </p:txBody>
      </p:sp>
      <p:sp>
        <p:nvSpPr>
          <p:cNvPr id="5" name="Text 3"/>
          <p:cNvSpPr/>
          <p:nvPr/>
        </p:nvSpPr>
        <p:spPr>
          <a:xfrm>
            <a:off x="457200" y="1024128"/>
            <a:ext cx="11247120" cy="292608"/>
          </a:xfrm>
          <a:prstGeom prst="rect">
            <a:avLst/>
          </a:prstGeom>
          <a:noFill/>
          <a:ln/>
        </p:spPr>
        <p:txBody>
          <a:bodyPr wrap="square" lIns="0" tIns="0" rIns="0" bIns="0" rtlCol="0" anchor="ctr"/>
          <a:lstStyle/>
          <a:p>
            <a:pPr indent="0" marL="0">
              <a:buNone/>
            </a:pPr>
            <a:r>
              <a:rPr lang="en-US" sz="1200" dirty="0">
                <a:solidFill>
                  <a:srgbClr val="5A6B73"/>
                </a:solidFill>
                <a:latin typeface="Arial" pitchFamily="34" charset="0"/>
                <a:ea typeface="Arial" pitchFamily="34" charset="-122"/>
                <a:cs typeface="Arial" pitchFamily="34" charset="-120"/>
              </a:rPr>
              <a:t>ロサンゼルスは「近所の雨だけを飲む都市」ではない。流域を越えて生産される大都市の水システムである。</a:t>
            </a:r>
            <a:endParaRPr lang="en-US" sz="1200" dirty="0"/>
          </a:p>
        </p:txBody>
      </p:sp>
      <p:sp>
        <p:nvSpPr>
          <p:cNvPr id="6" name="Shape 4"/>
          <p:cNvSpPr/>
          <p:nvPr/>
        </p:nvSpPr>
        <p:spPr>
          <a:xfrm>
            <a:off x="457200" y="1353312"/>
            <a:ext cx="11247120" cy="694944"/>
          </a:xfrm>
          <a:prstGeom prst="roundRect">
            <a:avLst>
              <a:gd name="adj" fmla="val 6579"/>
            </a:avLst>
          </a:prstGeom>
          <a:solidFill>
            <a:srgbClr val="FFFFFF"/>
          </a:solidFill>
          <a:ln w="12700">
            <a:solidFill>
              <a:srgbClr val="C5D2D4"/>
            </a:solidFill>
            <a:prstDash val="solid"/>
          </a:ln>
        </p:spPr>
      </p:sp>
      <p:sp>
        <p:nvSpPr>
          <p:cNvPr id="7" name="Text 5"/>
          <p:cNvSpPr/>
          <p:nvPr/>
        </p:nvSpPr>
        <p:spPr>
          <a:xfrm>
            <a:off x="594360" y="1517904"/>
            <a:ext cx="502920" cy="365760"/>
          </a:xfrm>
          <a:prstGeom prst="rect">
            <a:avLst/>
          </a:prstGeom>
          <a:noFill/>
          <a:ln/>
        </p:spPr>
        <p:txBody>
          <a:bodyPr wrap="square" lIns="0" tIns="0" rIns="0" bIns="0" rtlCol="0" anchor="ctr"/>
          <a:lstStyle/>
          <a:p>
            <a:pPr indent="0" marL="0">
              <a:buNone/>
            </a:pPr>
            <a:r>
              <a:rPr lang="en-US" sz="1400" b="1" dirty="0">
                <a:solidFill>
                  <a:srgbClr val="2A8F9E"/>
                </a:solidFill>
                <a:latin typeface="Arial" pitchFamily="34" charset="0"/>
                <a:ea typeface="Arial" pitchFamily="34" charset="-122"/>
                <a:cs typeface="Arial" pitchFamily="34" charset="-120"/>
              </a:rPr>
              <a:t>01</a:t>
            </a:r>
            <a:endParaRPr lang="en-US" sz="1400" dirty="0"/>
          </a:p>
        </p:txBody>
      </p:sp>
      <p:sp>
        <p:nvSpPr>
          <p:cNvPr id="8" name="Text 6"/>
          <p:cNvSpPr/>
          <p:nvPr/>
        </p:nvSpPr>
        <p:spPr>
          <a:xfrm>
            <a:off x="1188720" y="1426464"/>
            <a:ext cx="10241280" cy="237744"/>
          </a:xfrm>
          <a:prstGeom prst="rect">
            <a:avLst/>
          </a:prstGeom>
          <a:noFill/>
          <a:ln/>
        </p:spPr>
        <p:txBody>
          <a:bodyPr wrap="square" lIns="0" tIns="0" rIns="0" bIns="0" rtlCol="0" anchor="ctr"/>
          <a:lstStyle/>
          <a:p>
            <a:pPr indent="0" marL="0">
              <a:buNone/>
            </a:pPr>
            <a:r>
              <a:rPr lang="en-US" sz="1300" b="1" dirty="0">
                <a:solidFill>
                  <a:srgbClr val="0B1F33"/>
                </a:solidFill>
                <a:latin typeface="Arial" pitchFamily="34" charset="0"/>
                <a:ea typeface="Arial" pitchFamily="34" charset="-122"/>
                <a:cs typeface="Arial" pitchFamily="34" charset="-120"/>
              </a:rPr>
              <a:t>多水源依存（LADWP）</a:t>
            </a:r>
            <a:endParaRPr lang="en-US" sz="1300" dirty="0"/>
          </a:p>
        </p:txBody>
      </p:sp>
      <p:sp>
        <p:nvSpPr>
          <p:cNvPr id="9" name="Text 7"/>
          <p:cNvSpPr/>
          <p:nvPr/>
        </p:nvSpPr>
        <p:spPr>
          <a:xfrm>
            <a:off x="1188720" y="1664208"/>
            <a:ext cx="10241280" cy="347472"/>
          </a:xfrm>
          <a:prstGeom prst="rect">
            <a:avLst/>
          </a:prstGeom>
          <a:noFill/>
          <a:ln/>
        </p:spPr>
        <p:txBody>
          <a:bodyPr wrap="square" lIns="0" tIns="0" rIns="0" bIns="0" rtlCol="0" anchor="ctr"/>
          <a:lstStyle/>
          <a:p>
            <a:pPr indent="0" marL="0">
              <a:buNone/>
            </a:pPr>
            <a:r>
              <a:rPr lang="en-US" sz="1100" dirty="0">
                <a:solidFill>
                  <a:srgbClr val="5A6B73"/>
                </a:solidFill>
                <a:latin typeface="Arial" pitchFamily="34" charset="0"/>
                <a:ea typeface="Arial" pitchFamily="34" charset="-122"/>
                <a:cs typeface="Arial" pitchFamily="34" charset="-120"/>
              </a:rPr>
              <a:t>主な供給: ロサンゼルス水道橋（東部シエラ）、MWD購入水（州水道＋コロラド川）、地元地下水、拡大中の再生水／雨水貯留（LADWP UWMP 2020; Briefing Book 2022–23）。</a:t>
            </a:r>
            <a:endParaRPr lang="en-US" sz="1100" dirty="0"/>
          </a:p>
        </p:txBody>
      </p:sp>
      <p:sp>
        <p:nvSpPr>
          <p:cNvPr id="10" name="Shape 8"/>
          <p:cNvSpPr/>
          <p:nvPr/>
        </p:nvSpPr>
        <p:spPr>
          <a:xfrm>
            <a:off x="457200" y="2103120"/>
            <a:ext cx="11247120" cy="694944"/>
          </a:xfrm>
          <a:prstGeom prst="roundRect">
            <a:avLst>
              <a:gd name="adj" fmla="val 6579"/>
            </a:avLst>
          </a:prstGeom>
          <a:solidFill>
            <a:srgbClr val="FFFFFF"/>
          </a:solidFill>
          <a:ln w="12700">
            <a:solidFill>
              <a:srgbClr val="C5D2D4"/>
            </a:solidFill>
            <a:prstDash val="solid"/>
          </a:ln>
        </p:spPr>
      </p:sp>
      <p:sp>
        <p:nvSpPr>
          <p:cNvPr id="11" name="Text 9"/>
          <p:cNvSpPr/>
          <p:nvPr/>
        </p:nvSpPr>
        <p:spPr>
          <a:xfrm>
            <a:off x="594360" y="2267712"/>
            <a:ext cx="502920" cy="365760"/>
          </a:xfrm>
          <a:prstGeom prst="rect">
            <a:avLst/>
          </a:prstGeom>
          <a:noFill/>
          <a:ln/>
        </p:spPr>
        <p:txBody>
          <a:bodyPr wrap="square" lIns="0" tIns="0" rIns="0" bIns="0" rtlCol="0" anchor="ctr"/>
          <a:lstStyle/>
          <a:p>
            <a:pPr indent="0" marL="0">
              <a:buNone/>
            </a:pPr>
            <a:r>
              <a:rPr lang="en-US" sz="1400" b="1" dirty="0">
                <a:solidFill>
                  <a:srgbClr val="2A8F9E"/>
                </a:solidFill>
                <a:latin typeface="Arial" pitchFamily="34" charset="0"/>
                <a:ea typeface="Arial" pitchFamily="34" charset="-122"/>
                <a:cs typeface="Arial" pitchFamily="34" charset="-120"/>
              </a:rPr>
              <a:t>02</a:t>
            </a:r>
            <a:endParaRPr lang="en-US" sz="1400" dirty="0"/>
          </a:p>
        </p:txBody>
      </p:sp>
      <p:sp>
        <p:nvSpPr>
          <p:cNvPr id="12" name="Text 10"/>
          <p:cNvSpPr/>
          <p:nvPr/>
        </p:nvSpPr>
        <p:spPr>
          <a:xfrm>
            <a:off x="1188720" y="2176272"/>
            <a:ext cx="10241280" cy="237744"/>
          </a:xfrm>
          <a:prstGeom prst="rect">
            <a:avLst/>
          </a:prstGeom>
          <a:noFill/>
          <a:ln/>
        </p:spPr>
        <p:txBody>
          <a:bodyPr wrap="square" lIns="0" tIns="0" rIns="0" bIns="0" rtlCol="0" anchor="ctr"/>
          <a:lstStyle/>
          <a:p>
            <a:pPr indent="0" marL="0">
              <a:buNone/>
            </a:pPr>
            <a:r>
              <a:rPr lang="en-US" sz="1300" b="1" dirty="0">
                <a:solidFill>
                  <a:srgbClr val="0B1F33"/>
                </a:solidFill>
                <a:latin typeface="Arial" pitchFamily="34" charset="0"/>
                <a:ea typeface="Arial" pitchFamily="34" charset="-122"/>
                <a:cs typeface="Arial" pitchFamily="34" charset="-120"/>
              </a:rPr>
              <a:t>LA水道橋は水文的に変動が大きい</a:t>
            </a:r>
            <a:endParaRPr lang="en-US" sz="1300" dirty="0"/>
          </a:p>
        </p:txBody>
      </p:sp>
      <p:sp>
        <p:nvSpPr>
          <p:cNvPr id="13" name="Text 11"/>
          <p:cNvSpPr/>
          <p:nvPr/>
        </p:nvSpPr>
        <p:spPr>
          <a:xfrm>
            <a:off x="1188720" y="2414016"/>
            <a:ext cx="10241280" cy="347472"/>
          </a:xfrm>
          <a:prstGeom prst="rect">
            <a:avLst/>
          </a:prstGeom>
          <a:noFill/>
          <a:ln/>
        </p:spPr>
        <p:txBody>
          <a:bodyPr wrap="square" lIns="0" tIns="0" rIns="0" bIns="0" rtlCol="0" anchor="ctr"/>
          <a:lstStyle/>
          <a:p>
            <a:pPr indent="0" marL="0">
              <a:buNone/>
            </a:pPr>
            <a:r>
              <a:rPr lang="en-US" sz="1100" dirty="0">
                <a:solidFill>
                  <a:srgbClr val="5A6B73"/>
                </a:solidFill>
                <a:latin typeface="Arial" pitchFamily="34" charset="0"/>
                <a:ea typeface="Arial" pitchFamily="34" charset="-122"/>
                <a:cs typeface="Arial" pitchFamily="34" charset="-120"/>
              </a:rPr>
              <a:t>市供給に占めるLAAの割合は積雪次第でおおよそ10–50%。近年は約23万エーカーフィート／年（約750億ガロン）。歴史的に輸出していた東部シエラ水の約半分は、オーウェンズ／モノの環境義務のため現地に残す（LADWP）。</a:t>
            </a:r>
            <a:endParaRPr lang="en-US" sz="1100" dirty="0"/>
          </a:p>
        </p:txBody>
      </p:sp>
      <p:sp>
        <p:nvSpPr>
          <p:cNvPr id="14" name="Shape 12"/>
          <p:cNvSpPr/>
          <p:nvPr/>
        </p:nvSpPr>
        <p:spPr>
          <a:xfrm>
            <a:off x="457200" y="2852928"/>
            <a:ext cx="11247120" cy="694944"/>
          </a:xfrm>
          <a:prstGeom prst="roundRect">
            <a:avLst>
              <a:gd name="adj" fmla="val 6579"/>
            </a:avLst>
          </a:prstGeom>
          <a:solidFill>
            <a:srgbClr val="FFFFFF"/>
          </a:solidFill>
          <a:ln w="12700">
            <a:solidFill>
              <a:srgbClr val="C5D2D4"/>
            </a:solidFill>
            <a:prstDash val="solid"/>
          </a:ln>
        </p:spPr>
      </p:sp>
      <p:sp>
        <p:nvSpPr>
          <p:cNvPr id="15" name="Text 13"/>
          <p:cNvSpPr/>
          <p:nvPr/>
        </p:nvSpPr>
        <p:spPr>
          <a:xfrm>
            <a:off x="594360" y="3017520"/>
            <a:ext cx="502920" cy="365760"/>
          </a:xfrm>
          <a:prstGeom prst="rect">
            <a:avLst/>
          </a:prstGeom>
          <a:noFill/>
          <a:ln/>
        </p:spPr>
        <p:txBody>
          <a:bodyPr wrap="square" lIns="0" tIns="0" rIns="0" bIns="0" rtlCol="0" anchor="ctr"/>
          <a:lstStyle/>
          <a:p>
            <a:pPr indent="0" marL="0">
              <a:buNone/>
            </a:pPr>
            <a:r>
              <a:rPr lang="en-US" sz="1400" b="1" dirty="0">
                <a:solidFill>
                  <a:srgbClr val="2A8F9E"/>
                </a:solidFill>
                <a:latin typeface="Arial" pitchFamily="34" charset="0"/>
                <a:ea typeface="Arial" pitchFamily="34" charset="-122"/>
                <a:cs typeface="Arial" pitchFamily="34" charset="-120"/>
              </a:rPr>
              <a:t>03</a:t>
            </a:r>
            <a:endParaRPr lang="en-US" sz="1400" dirty="0"/>
          </a:p>
        </p:txBody>
      </p:sp>
      <p:sp>
        <p:nvSpPr>
          <p:cNvPr id="16" name="Text 14"/>
          <p:cNvSpPr/>
          <p:nvPr/>
        </p:nvSpPr>
        <p:spPr>
          <a:xfrm>
            <a:off x="1188720" y="2926080"/>
            <a:ext cx="10241280" cy="237744"/>
          </a:xfrm>
          <a:prstGeom prst="rect">
            <a:avLst/>
          </a:prstGeom>
          <a:noFill/>
          <a:ln/>
        </p:spPr>
        <p:txBody>
          <a:bodyPr wrap="square" lIns="0" tIns="0" rIns="0" bIns="0" rtlCol="0" anchor="ctr"/>
          <a:lstStyle/>
          <a:p>
            <a:pPr indent="0" marL="0">
              <a:buNone/>
            </a:pPr>
            <a:r>
              <a:rPr lang="en-US" sz="1300" b="1" dirty="0">
                <a:solidFill>
                  <a:srgbClr val="0B1F33"/>
                </a:solidFill>
                <a:latin typeface="Arial" pitchFamily="34" charset="0"/>
                <a:ea typeface="Arial" pitchFamily="34" charset="-122"/>
                <a:cs typeface="Arial" pitchFamily="34" charset="-120"/>
              </a:rPr>
              <a:t>乾燥年は輸入依存が高まる</a:t>
            </a:r>
            <a:endParaRPr lang="en-US" sz="1300" dirty="0"/>
          </a:p>
        </p:txBody>
      </p:sp>
      <p:sp>
        <p:nvSpPr>
          <p:cNvPr id="17" name="Text 15"/>
          <p:cNvSpPr/>
          <p:nvPr/>
        </p:nvSpPr>
        <p:spPr>
          <a:xfrm>
            <a:off x="1188720" y="3163824"/>
            <a:ext cx="10241280" cy="347472"/>
          </a:xfrm>
          <a:prstGeom prst="rect">
            <a:avLst/>
          </a:prstGeom>
          <a:noFill/>
          <a:ln/>
        </p:spPr>
        <p:txBody>
          <a:bodyPr wrap="square" lIns="0" tIns="0" rIns="0" bIns="0" rtlCol="0" anchor="ctr"/>
          <a:lstStyle/>
          <a:p>
            <a:pPr indent="0" marL="0">
              <a:buNone/>
            </a:pPr>
            <a:r>
              <a:rPr lang="en-US" sz="1100" dirty="0">
                <a:solidFill>
                  <a:srgbClr val="5A6B73"/>
                </a:solidFill>
                <a:latin typeface="Arial" pitchFamily="34" charset="0"/>
                <a:ea typeface="Arial" pitchFamily="34" charset="-122"/>
                <a:cs typeface="Arial" pitchFamily="34" charset="-120"/>
              </a:rPr>
              <a:t>シエラの積雪が減るとLAA供給が落ち、MWD購入が増える — 逆相関。脆弱性が遠いSWP・コロラドの割当に載る（LADWP 2008; UWMP系列）。</a:t>
            </a:r>
            <a:endParaRPr lang="en-US" sz="1100" dirty="0"/>
          </a:p>
        </p:txBody>
      </p:sp>
      <p:sp>
        <p:nvSpPr>
          <p:cNvPr id="18" name="Shape 16"/>
          <p:cNvSpPr/>
          <p:nvPr/>
        </p:nvSpPr>
        <p:spPr>
          <a:xfrm>
            <a:off x="457200" y="3602736"/>
            <a:ext cx="11247120" cy="694944"/>
          </a:xfrm>
          <a:prstGeom prst="roundRect">
            <a:avLst>
              <a:gd name="adj" fmla="val 6579"/>
            </a:avLst>
          </a:prstGeom>
          <a:solidFill>
            <a:srgbClr val="FFFFFF"/>
          </a:solidFill>
          <a:ln w="12700">
            <a:solidFill>
              <a:srgbClr val="C5D2D4"/>
            </a:solidFill>
            <a:prstDash val="solid"/>
          </a:ln>
        </p:spPr>
      </p:sp>
      <p:sp>
        <p:nvSpPr>
          <p:cNvPr id="19" name="Text 17"/>
          <p:cNvSpPr/>
          <p:nvPr/>
        </p:nvSpPr>
        <p:spPr>
          <a:xfrm>
            <a:off x="594360" y="3767328"/>
            <a:ext cx="502920" cy="365760"/>
          </a:xfrm>
          <a:prstGeom prst="rect">
            <a:avLst/>
          </a:prstGeom>
          <a:noFill/>
          <a:ln/>
        </p:spPr>
        <p:txBody>
          <a:bodyPr wrap="square" lIns="0" tIns="0" rIns="0" bIns="0" rtlCol="0" anchor="ctr"/>
          <a:lstStyle/>
          <a:p>
            <a:pPr indent="0" marL="0">
              <a:buNone/>
            </a:pPr>
            <a:r>
              <a:rPr lang="en-US" sz="1400" b="1" dirty="0">
                <a:solidFill>
                  <a:srgbClr val="2A8F9E"/>
                </a:solidFill>
                <a:latin typeface="Arial" pitchFamily="34" charset="0"/>
                <a:ea typeface="Arial" pitchFamily="34" charset="-122"/>
                <a:cs typeface="Arial" pitchFamily="34" charset="-120"/>
              </a:rPr>
              <a:t>04</a:t>
            </a:r>
            <a:endParaRPr lang="en-US" sz="1400" dirty="0"/>
          </a:p>
        </p:txBody>
      </p:sp>
      <p:sp>
        <p:nvSpPr>
          <p:cNvPr id="20" name="Text 18"/>
          <p:cNvSpPr/>
          <p:nvPr/>
        </p:nvSpPr>
        <p:spPr>
          <a:xfrm>
            <a:off x="1188720" y="3675888"/>
            <a:ext cx="10241280" cy="237744"/>
          </a:xfrm>
          <a:prstGeom prst="rect">
            <a:avLst/>
          </a:prstGeom>
          <a:noFill/>
          <a:ln/>
        </p:spPr>
        <p:txBody>
          <a:bodyPr wrap="square" lIns="0" tIns="0" rIns="0" bIns="0" rtlCol="0" anchor="ctr"/>
          <a:lstStyle/>
          <a:p>
            <a:pPr indent="0" marL="0">
              <a:buNone/>
            </a:pPr>
            <a:r>
              <a:rPr lang="en-US" sz="1300" b="1" dirty="0">
                <a:solidFill>
                  <a:srgbClr val="0B1F33"/>
                </a:solidFill>
                <a:latin typeface="Arial" pitchFamily="34" charset="0"/>
                <a:ea typeface="Arial" pitchFamily="34" charset="-122"/>
                <a:cs typeface="Arial" pitchFamily="34" charset="-120"/>
              </a:rPr>
              <a:t>流域間導水としての都市地理</a:t>
            </a:r>
            <a:endParaRPr lang="en-US" sz="1300" dirty="0"/>
          </a:p>
        </p:txBody>
      </p:sp>
      <p:sp>
        <p:nvSpPr>
          <p:cNvPr id="21" name="Text 19"/>
          <p:cNvSpPr/>
          <p:nvPr/>
        </p:nvSpPr>
        <p:spPr>
          <a:xfrm>
            <a:off x="1188720" y="3913632"/>
            <a:ext cx="10241280" cy="347472"/>
          </a:xfrm>
          <a:prstGeom prst="rect">
            <a:avLst/>
          </a:prstGeom>
          <a:noFill/>
          <a:ln/>
        </p:spPr>
        <p:txBody>
          <a:bodyPr wrap="square" lIns="0" tIns="0" rIns="0" bIns="0" rtlCol="0" anchor="ctr"/>
          <a:lstStyle/>
          <a:p>
            <a:pPr indent="0" marL="0">
              <a:buNone/>
            </a:pPr>
            <a:r>
              <a:rPr lang="en-US" sz="1100" dirty="0">
                <a:solidFill>
                  <a:srgbClr val="5A6B73"/>
                </a:solidFill>
                <a:latin typeface="Arial" pitchFamily="34" charset="0"/>
                <a:ea typeface="Arial" pitchFamily="34" charset="-122"/>
                <a:cs typeface="Arial" pitchFamily="34" charset="-120"/>
              </a:rPr>
              <a:t>山と砂漠を越える導水なしに大都市成長は語れない（Hundley 2001; Kahrl 1982）。蛇口は地元。水の生産は広域・多州。</a:t>
            </a:r>
            <a:endParaRPr lang="en-US" sz="1100" dirty="0"/>
          </a:p>
        </p:txBody>
      </p:sp>
      <p:sp>
        <p:nvSpPr>
          <p:cNvPr id="22" name="Shape 20"/>
          <p:cNvSpPr/>
          <p:nvPr/>
        </p:nvSpPr>
        <p:spPr>
          <a:xfrm>
            <a:off x="0" y="4828032"/>
            <a:ext cx="12191695" cy="201168"/>
          </a:xfrm>
          <a:prstGeom prst="rect">
            <a:avLst/>
          </a:prstGeom>
          <a:solidFill>
            <a:srgbClr val="0B1F33"/>
          </a:solidFill>
          <a:ln/>
        </p:spPr>
      </p:sp>
      <p:sp>
        <p:nvSpPr>
          <p:cNvPr id="23" name="Text 21"/>
          <p:cNvSpPr/>
          <p:nvPr/>
        </p:nvSpPr>
        <p:spPr>
          <a:xfrm>
            <a:off x="365760" y="4846320"/>
            <a:ext cx="5486400" cy="164592"/>
          </a:xfrm>
          <a:prstGeom prst="rect">
            <a:avLst/>
          </a:prstGeom>
          <a:noFill/>
          <a:ln/>
        </p:spPr>
        <p:txBody>
          <a:bodyPr wrap="square" lIns="0" tIns="0" rIns="0" bIns="0" rtlCol="0" anchor="ctr"/>
          <a:lstStyle/>
          <a:p>
            <a:pPr indent="0" marL="0">
              <a:buNone/>
            </a:pPr>
            <a:r>
              <a:rPr lang="en-US" sz="800" b="1" dirty="0">
                <a:solidFill>
                  <a:srgbClr val="E8F2F3"/>
                </a:solidFill>
                <a:latin typeface="Arial" pitchFamily="34" charset="0"/>
                <a:ea typeface="Arial" pitchFamily="34" charset="-122"/>
                <a:cs typeface="Arial" pitchFamily="34" charset="-120"/>
              </a:rPr>
              <a:t>LA WATER SECURITY ATLAS</a:t>
            </a:r>
            <a:endParaRPr lang="en-US" sz="800" dirty="0"/>
          </a:p>
        </p:txBody>
      </p:sp>
      <p:sp>
        <p:nvSpPr>
          <p:cNvPr id="24" name="Text 22"/>
          <p:cNvSpPr/>
          <p:nvPr/>
        </p:nvSpPr>
        <p:spPr>
          <a:xfrm>
            <a:off x="7498080" y="4846320"/>
            <a:ext cx="4297680" cy="164592"/>
          </a:xfrm>
          <a:prstGeom prst="rect">
            <a:avLst/>
          </a:prstGeom>
          <a:noFill/>
          <a:ln/>
        </p:spPr>
        <p:txBody>
          <a:bodyPr wrap="square" lIns="0" tIns="0" rIns="0" bIns="0" rtlCol="0" anchor="ctr"/>
          <a:lstStyle/>
          <a:p>
            <a:pPr algn="r" indent="0" marL="0">
              <a:buNone/>
            </a:pPr>
            <a:r>
              <a:rPr lang="en-US" sz="800" dirty="0">
                <a:solidFill>
                  <a:srgbClr val="E8F2F3"/>
                </a:solidFill>
                <a:latin typeface="Arial" pitchFamily="34" charset="0"/>
                <a:ea typeface="Arial" pitchFamily="34" charset="-122"/>
                <a:cs typeface="Arial" pitchFamily="34" charset="-120"/>
              </a:rPr>
              <a:t>野澤カイ  ·  3 / 15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029200"/>
          </a:xfrm>
          <a:prstGeom prst="rect">
            <a:avLst/>
          </a:prstGeom>
          <a:solidFill>
            <a:srgbClr val="F4F6F5"/>
          </a:solidFill>
          <a:ln/>
        </p:spPr>
      </p:sp>
      <p:sp>
        <p:nvSpPr>
          <p:cNvPr id="3" name="Text 1"/>
          <p:cNvSpPr/>
          <p:nvPr/>
        </p:nvSpPr>
        <p:spPr>
          <a:xfrm>
            <a:off x="457200" y="256032"/>
            <a:ext cx="11247120" cy="256032"/>
          </a:xfrm>
          <a:prstGeom prst="rect">
            <a:avLst/>
          </a:prstGeom>
          <a:noFill/>
          <a:ln/>
        </p:spPr>
        <p:txBody>
          <a:bodyPr wrap="square" lIns="0" tIns="0" rIns="0" bIns="0" rtlCol="0" anchor="ctr"/>
          <a:lstStyle/>
          <a:p>
            <a:pPr indent="0" marL="0">
              <a:buNone/>
            </a:pPr>
            <a:r>
              <a:rPr lang="en-US" sz="1100" b="1" spc="200" kern="0" dirty="0">
                <a:solidFill>
                  <a:srgbClr val="0E5F6B"/>
                </a:solidFill>
                <a:latin typeface="Arial" pitchFamily="34" charset="0"/>
                <a:ea typeface="Arial" pitchFamily="34" charset="-122"/>
                <a:cs typeface="Arial" pitchFamily="34" charset="-120"/>
              </a:rPr>
              <a:t>問題と意義 · 2/2</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400" b="1" dirty="0">
                <a:solidFill>
                  <a:srgbClr val="0B1F33"/>
                </a:solidFill>
                <a:latin typeface="Arial" pitchFamily="34" charset="0"/>
                <a:ea typeface="Arial" pitchFamily="34" charset="-122"/>
                <a:cs typeface="Arial" pitchFamily="34" charset="-120"/>
              </a:rPr>
              <a:t>なぜ空間的脆弱性か</a:t>
            </a:r>
            <a:endParaRPr lang="en-US" sz="2400" dirty="0"/>
          </a:p>
        </p:txBody>
      </p:sp>
      <p:sp>
        <p:nvSpPr>
          <p:cNvPr id="5" name="Text 3"/>
          <p:cNvSpPr/>
          <p:nvPr/>
        </p:nvSpPr>
        <p:spPr>
          <a:xfrm>
            <a:off x="457200" y="1024128"/>
            <a:ext cx="11247120" cy="292608"/>
          </a:xfrm>
          <a:prstGeom prst="rect">
            <a:avLst/>
          </a:prstGeom>
          <a:noFill/>
          <a:ln/>
        </p:spPr>
        <p:txBody>
          <a:bodyPr wrap="square" lIns="0" tIns="0" rIns="0" bIns="0" rtlCol="0" anchor="ctr"/>
          <a:lstStyle/>
          <a:p>
            <a:pPr indent="0" marL="0">
              <a:buNone/>
            </a:pPr>
            <a:r>
              <a:rPr lang="en-US" sz="1200" dirty="0">
                <a:solidFill>
                  <a:srgbClr val="5A6B73"/>
                </a:solidFill>
                <a:latin typeface="Arial" pitchFamily="34" charset="0"/>
                <a:ea typeface="Arial" pitchFamily="34" charset="-122"/>
                <a:cs typeface="Arial" pitchFamily="34" charset="-120"/>
              </a:rPr>
              <a:t>脆弱性は「水が少ない」だけではない。リスクがどこで生まれ、どの回廊を伝わり、誰が継承するかである。</a:t>
            </a:r>
            <a:endParaRPr lang="en-US" sz="1200" dirty="0"/>
          </a:p>
        </p:txBody>
      </p:sp>
      <p:sp>
        <p:nvSpPr>
          <p:cNvPr id="6" name="Shape 4"/>
          <p:cNvSpPr/>
          <p:nvPr/>
        </p:nvSpPr>
        <p:spPr>
          <a:xfrm>
            <a:off x="457200" y="1325880"/>
            <a:ext cx="11247120" cy="658368"/>
          </a:xfrm>
          <a:prstGeom prst="roundRect">
            <a:avLst>
              <a:gd name="adj" fmla="val 6944"/>
            </a:avLst>
          </a:prstGeom>
          <a:solidFill>
            <a:srgbClr val="FFFFFF"/>
          </a:solidFill>
          <a:ln w="12700">
            <a:solidFill>
              <a:srgbClr val="C5D2D4"/>
            </a:solidFill>
            <a:prstDash val="solid"/>
          </a:ln>
        </p:spPr>
      </p:sp>
      <p:sp>
        <p:nvSpPr>
          <p:cNvPr id="7" name="Text 5"/>
          <p:cNvSpPr/>
          <p:nvPr/>
        </p:nvSpPr>
        <p:spPr>
          <a:xfrm>
            <a:off x="594360" y="1472184"/>
            <a:ext cx="502920" cy="365760"/>
          </a:xfrm>
          <a:prstGeom prst="rect">
            <a:avLst/>
          </a:prstGeom>
          <a:noFill/>
          <a:ln/>
        </p:spPr>
        <p:txBody>
          <a:bodyPr wrap="square" lIns="0" tIns="0" rIns="0" bIns="0" rtlCol="0" anchor="ctr"/>
          <a:lstStyle/>
          <a:p>
            <a:pPr indent="0" marL="0">
              <a:buNone/>
            </a:pPr>
            <a:r>
              <a:rPr lang="en-US" sz="1400" b="1" dirty="0">
                <a:solidFill>
                  <a:srgbClr val="2A8F9E"/>
                </a:solidFill>
                <a:latin typeface="Arial" pitchFamily="34" charset="0"/>
                <a:ea typeface="Arial" pitchFamily="34" charset="-122"/>
                <a:cs typeface="Arial" pitchFamily="34" charset="-120"/>
              </a:rPr>
              <a:t>01</a:t>
            </a:r>
            <a:endParaRPr lang="en-US" sz="1400" dirty="0"/>
          </a:p>
        </p:txBody>
      </p:sp>
      <p:sp>
        <p:nvSpPr>
          <p:cNvPr id="8" name="Text 6"/>
          <p:cNvSpPr/>
          <p:nvPr/>
        </p:nvSpPr>
        <p:spPr>
          <a:xfrm>
            <a:off x="1188720" y="1380744"/>
            <a:ext cx="10241280" cy="219456"/>
          </a:xfrm>
          <a:prstGeom prst="rect">
            <a:avLst/>
          </a:prstGeom>
          <a:noFill/>
          <a:ln/>
        </p:spPr>
        <p:txBody>
          <a:bodyPr wrap="square" lIns="0" tIns="0" rIns="0" bIns="0" rtlCol="0" anchor="ctr"/>
          <a:lstStyle/>
          <a:p>
            <a:pPr indent="0" marL="0">
              <a:buNone/>
            </a:pPr>
            <a:r>
              <a:rPr lang="en-US" sz="1300" b="1" dirty="0">
                <a:solidFill>
                  <a:srgbClr val="0B1F33"/>
                </a:solidFill>
                <a:latin typeface="Arial" pitchFamily="34" charset="0"/>
                <a:ea typeface="Arial" pitchFamily="34" charset="-122"/>
                <a:cs typeface="Arial" pitchFamily="34" charset="-120"/>
              </a:rPr>
              <a:t>気候リスクは空間的に伝わる</a:t>
            </a:r>
            <a:endParaRPr lang="en-US" sz="1300" dirty="0"/>
          </a:p>
        </p:txBody>
      </p:sp>
      <p:sp>
        <p:nvSpPr>
          <p:cNvPr id="9" name="Text 7"/>
          <p:cNvSpPr/>
          <p:nvPr/>
        </p:nvSpPr>
        <p:spPr>
          <a:xfrm>
            <a:off x="1188720" y="1600200"/>
            <a:ext cx="10241280" cy="347472"/>
          </a:xfrm>
          <a:prstGeom prst="rect">
            <a:avLst/>
          </a:prstGeom>
          <a:noFill/>
          <a:ln/>
        </p:spPr>
        <p:txBody>
          <a:bodyPr wrap="square" lIns="0" tIns="0" rIns="0" bIns="0" rtlCol="0" anchor="ctr"/>
          <a:lstStyle/>
          <a:p>
            <a:pPr indent="0" marL="0">
              <a:buNone/>
            </a:pPr>
            <a:r>
              <a:rPr lang="en-US" sz="1100" dirty="0">
                <a:solidFill>
                  <a:srgbClr val="5A6B73"/>
                </a:solidFill>
                <a:latin typeface="Arial" pitchFamily="34" charset="0"/>
                <a:ea typeface="Arial" pitchFamily="34" charset="-122"/>
                <a:cs typeface="Arial" pitchFamily="34" charset="-120"/>
              </a:rPr>
              <a:t>南西部の水安全保障は温暖化・積雪減少・貯水ストレスと強く結合する。そのリスクは共有河川と山岳水源を通じて南カリフォルニアへ入る（MacDonald 2010; Gleick 2010）。</a:t>
            </a:r>
            <a:endParaRPr lang="en-US" sz="1100" dirty="0"/>
          </a:p>
        </p:txBody>
      </p:sp>
      <p:sp>
        <p:nvSpPr>
          <p:cNvPr id="10" name="Shape 8"/>
          <p:cNvSpPr/>
          <p:nvPr/>
        </p:nvSpPr>
        <p:spPr>
          <a:xfrm>
            <a:off x="457200" y="2039112"/>
            <a:ext cx="11247120" cy="658368"/>
          </a:xfrm>
          <a:prstGeom prst="roundRect">
            <a:avLst>
              <a:gd name="adj" fmla="val 6944"/>
            </a:avLst>
          </a:prstGeom>
          <a:solidFill>
            <a:srgbClr val="FFFFFF"/>
          </a:solidFill>
          <a:ln w="12700">
            <a:solidFill>
              <a:srgbClr val="C5D2D4"/>
            </a:solidFill>
            <a:prstDash val="solid"/>
          </a:ln>
        </p:spPr>
      </p:sp>
      <p:sp>
        <p:nvSpPr>
          <p:cNvPr id="11" name="Text 9"/>
          <p:cNvSpPr/>
          <p:nvPr/>
        </p:nvSpPr>
        <p:spPr>
          <a:xfrm>
            <a:off x="594360" y="2185416"/>
            <a:ext cx="502920" cy="365760"/>
          </a:xfrm>
          <a:prstGeom prst="rect">
            <a:avLst/>
          </a:prstGeom>
          <a:noFill/>
          <a:ln/>
        </p:spPr>
        <p:txBody>
          <a:bodyPr wrap="square" lIns="0" tIns="0" rIns="0" bIns="0" rtlCol="0" anchor="ctr"/>
          <a:lstStyle/>
          <a:p>
            <a:pPr indent="0" marL="0">
              <a:buNone/>
            </a:pPr>
            <a:r>
              <a:rPr lang="en-US" sz="1400" b="1" dirty="0">
                <a:solidFill>
                  <a:srgbClr val="2A8F9E"/>
                </a:solidFill>
                <a:latin typeface="Arial" pitchFamily="34" charset="0"/>
                <a:ea typeface="Arial" pitchFamily="34" charset="-122"/>
                <a:cs typeface="Arial" pitchFamily="34" charset="-120"/>
              </a:rPr>
              <a:t>02</a:t>
            </a:r>
            <a:endParaRPr lang="en-US" sz="1400" dirty="0"/>
          </a:p>
        </p:txBody>
      </p:sp>
      <p:sp>
        <p:nvSpPr>
          <p:cNvPr id="12" name="Text 10"/>
          <p:cNvSpPr/>
          <p:nvPr/>
        </p:nvSpPr>
        <p:spPr>
          <a:xfrm>
            <a:off x="1188720" y="2093976"/>
            <a:ext cx="10241280" cy="219456"/>
          </a:xfrm>
          <a:prstGeom prst="rect">
            <a:avLst/>
          </a:prstGeom>
          <a:noFill/>
          <a:ln/>
        </p:spPr>
        <p:txBody>
          <a:bodyPr wrap="square" lIns="0" tIns="0" rIns="0" bIns="0" rtlCol="0" anchor="ctr"/>
          <a:lstStyle/>
          <a:p>
            <a:pPr indent="0" marL="0">
              <a:buNone/>
            </a:pPr>
            <a:r>
              <a:rPr lang="en-US" sz="1300" b="1" dirty="0">
                <a:solidFill>
                  <a:srgbClr val="0B1F33"/>
                </a:solidFill>
                <a:latin typeface="Arial" pitchFamily="34" charset="0"/>
                <a:ea typeface="Arial" pitchFamily="34" charset="-122"/>
                <a:cs typeface="Arial" pitchFamily="34" charset="-120"/>
              </a:rPr>
              <a:t>コロラド川の過大割当</a:t>
            </a:r>
            <a:endParaRPr lang="en-US" sz="1300" dirty="0"/>
          </a:p>
        </p:txBody>
      </p:sp>
      <p:sp>
        <p:nvSpPr>
          <p:cNvPr id="13" name="Text 11"/>
          <p:cNvSpPr/>
          <p:nvPr/>
        </p:nvSpPr>
        <p:spPr>
          <a:xfrm>
            <a:off x="1188720" y="2313432"/>
            <a:ext cx="10241280" cy="347472"/>
          </a:xfrm>
          <a:prstGeom prst="rect">
            <a:avLst/>
          </a:prstGeom>
          <a:noFill/>
          <a:ln/>
        </p:spPr>
        <p:txBody>
          <a:bodyPr wrap="square" lIns="0" tIns="0" rIns="0" bIns="0" rtlCol="0" anchor="ctr"/>
          <a:lstStyle/>
          <a:p>
            <a:pPr indent="0" marL="0">
              <a:buNone/>
            </a:pPr>
            <a:r>
              <a:rPr lang="en-US" sz="1100" dirty="0">
                <a:solidFill>
                  <a:srgbClr val="5A6B73"/>
                </a:solidFill>
                <a:latin typeface="Arial" pitchFamily="34" charset="0"/>
                <a:ea typeface="Arial" pitchFamily="34" charset="-122"/>
                <a:cs typeface="Arial" pitchFamily="34" charset="-120"/>
              </a:rPr>
              <a:t>1922年協定以降の枠組みは、20世紀の流量想定に対して過大割当になりやすい。ミード／パウエルの不足は流域スケールのストレスであり、コロラド川水道橋経由で南カリフォルニアへ届く（Barnett &amp; Pierce 2008; USBR不足運用）。</a:t>
            </a:r>
            <a:endParaRPr lang="en-US" sz="1100" dirty="0"/>
          </a:p>
        </p:txBody>
      </p:sp>
      <p:sp>
        <p:nvSpPr>
          <p:cNvPr id="14" name="Shape 12"/>
          <p:cNvSpPr/>
          <p:nvPr/>
        </p:nvSpPr>
        <p:spPr>
          <a:xfrm>
            <a:off x="457200" y="2752344"/>
            <a:ext cx="11247120" cy="658368"/>
          </a:xfrm>
          <a:prstGeom prst="roundRect">
            <a:avLst>
              <a:gd name="adj" fmla="val 6944"/>
            </a:avLst>
          </a:prstGeom>
          <a:solidFill>
            <a:srgbClr val="FFFFFF"/>
          </a:solidFill>
          <a:ln w="12700">
            <a:solidFill>
              <a:srgbClr val="C5D2D4"/>
            </a:solidFill>
            <a:prstDash val="solid"/>
          </a:ln>
        </p:spPr>
      </p:sp>
      <p:sp>
        <p:nvSpPr>
          <p:cNvPr id="15" name="Text 13"/>
          <p:cNvSpPr/>
          <p:nvPr/>
        </p:nvSpPr>
        <p:spPr>
          <a:xfrm>
            <a:off x="594360" y="2898648"/>
            <a:ext cx="502920" cy="365760"/>
          </a:xfrm>
          <a:prstGeom prst="rect">
            <a:avLst/>
          </a:prstGeom>
          <a:noFill/>
          <a:ln/>
        </p:spPr>
        <p:txBody>
          <a:bodyPr wrap="square" lIns="0" tIns="0" rIns="0" bIns="0" rtlCol="0" anchor="ctr"/>
          <a:lstStyle/>
          <a:p>
            <a:pPr indent="0" marL="0">
              <a:buNone/>
            </a:pPr>
            <a:r>
              <a:rPr lang="en-US" sz="1400" b="1" dirty="0">
                <a:solidFill>
                  <a:srgbClr val="2A8F9E"/>
                </a:solidFill>
                <a:latin typeface="Arial" pitchFamily="34" charset="0"/>
                <a:ea typeface="Arial" pitchFamily="34" charset="-122"/>
                <a:cs typeface="Arial" pitchFamily="34" charset="-120"/>
              </a:rPr>
              <a:t>03</a:t>
            </a:r>
            <a:endParaRPr lang="en-US" sz="1400" dirty="0"/>
          </a:p>
        </p:txBody>
      </p:sp>
      <p:sp>
        <p:nvSpPr>
          <p:cNvPr id="16" name="Text 14"/>
          <p:cNvSpPr/>
          <p:nvPr/>
        </p:nvSpPr>
        <p:spPr>
          <a:xfrm>
            <a:off x="1188720" y="2807208"/>
            <a:ext cx="10241280" cy="219456"/>
          </a:xfrm>
          <a:prstGeom prst="rect">
            <a:avLst/>
          </a:prstGeom>
          <a:noFill/>
          <a:ln/>
        </p:spPr>
        <p:txBody>
          <a:bodyPr wrap="square" lIns="0" tIns="0" rIns="0" bIns="0" rtlCol="0" anchor="ctr"/>
          <a:lstStyle/>
          <a:p>
            <a:pPr indent="0" marL="0">
              <a:buNone/>
            </a:pPr>
            <a:r>
              <a:rPr lang="en-US" sz="1300" b="1" dirty="0">
                <a:solidFill>
                  <a:srgbClr val="0B1F33"/>
                </a:solidFill>
                <a:latin typeface="Arial" pitchFamily="34" charset="0"/>
                <a:ea typeface="Arial" pitchFamily="34" charset="-122"/>
                <a:cs typeface="Arial" pitchFamily="34" charset="-120"/>
              </a:rPr>
              <a:t>インフラとエネルギーの暴露</a:t>
            </a:r>
            <a:endParaRPr lang="en-US" sz="1300" dirty="0"/>
          </a:p>
        </p:txBody>
      </p:sp>
      <p:sp>
        <p:nvSpPr>
          <p:cNvPr id="17" name="Text 15"/>
          <p:cNvSpPr/>
          <p:nvPr/>
        </p:nvSpPr>
        <p:spPr>
          <a:xfrm>
            <a:off x="1188720" y="3026664"/>
            <a:ext cx="10241280" cy="347472"/>
          </a:xfrm>
          <a:prstGeom prst="rect">
            <a:avLst/>
          </a:prstGeom>
          <a:noFill/>
          <a:ln/>
        </p:spPr>
        <p:txBody>
          <a:bodyPr wrap="square" lIns="0" tIns="0" rIns="0" bIns="0" rtlCol="0" anchor="ctr"/>
          <a:lstStyle/>
          <a:p>
            <a:pPr indent="0" marL="0">
              <a:buNone/>
            </a:pPr>
            <a:r>
              <a:rPr lang="en-US" sz="1100" dirty="0">
                <a:solidFill>
                  <a:srgbClr val="5A6B73"/>
                </a:solidFill>
                <a:latin typeface="Arial" pitchFamily="34" charset="0"/>
                <a:ea typeface="Arial" pitchFamily="34" charset="-122"/>
                <a:cs typeface="Arial" pitchFamily="34" charset="-120"/>
              </a:rPr>
              <a:t>長距離水道は揚水を要する（例: SWPのエドモンストン／テハチャピ）。供給の信頼性はエネルギー系と結合する — 停電とコストは「脇役」ではなく水安全保障の変数。</a:t>
            </a:r>
            <a:endParaRPr lang="en-US" sz="1100" dirty="0"/>
          </a:p>
        </p:txBody>
      </p:sp>
      <p:sp>
        <p:nvSpPr>
          <p:cNvPr id="18" name="Shape 16"/>
          <p:cNvSpPr/>
          <p:nvPr/>
        </p:nvSpPr>
        <p:spPr>
          <a:xfrm>
            <a:off x="457200" y="3465576"/>
            <a:ext cx="11247120" cy="658368"/>
          </a:xfrm>
          <a:prstGeom prst="roundRect">
            <a:avLst>
              <a:gd name="adj" fmla="val 6944"/>
            </a:avLst>
          </a:prstGeom>
          <a:solidFill>
            <a:srgbClr val="FFFFFF"/>
          </a:solidFill>
          <a:ln w="12700">
            <a:solidFill>
              <a:srgbClr val="C5D2D4"/>
            </a:solidFill>
            <a:prstDash val="solid"/>
          </a:ln>
        </p:spPr>
      </p:sp>
      <p:sp>
        <p:nvSpPr>
          <p:cNvPr id="19" name="Text 17"/>
          <p:cNvSpPr/>
          <p:nvPr/>
        </p:nvSpPr>
        <p:spPr>
          <a:xfrm>
            <a:off x="594360" y="3611880"/>
            <a:ext cx="502920" cy="365760"/>
          </a:xfrm>
          <a:prstGeom prst="rect">
            <a:avLst/>
          </a:prstGeom>
          <a:noFill/>
          <a:ln/>
        </p:spPr>
        <p:txBody>
          <a:bodyPr wrap="square" lIns="0" tIns="0" rIns="0" bIns="0" rtlCol="0" anchor="ctr"/>
          <a:lstStyle/>
          <a:p>
            <a:pPr indent="0" marL="0">
              <a:buNone/>
            </a:pPr>
            <a:r>
              <a:rPr lang="en-US" sz="1400" b="1" dirty="0">
                <a:solidFill>
                  <a:srgbClr val="2A8F9E"/>
                </a:solidFill>
                <a:latin typeface="Arial" pitchFamily="34" charset="0"/>
                <a:ea typeface="Arial" pitchFamily="34" charset="-122"/>
                <a:cs typeface="Arial" pitchFamily="34" charset="-120"/>
              </a:rPr>
              <a:t>04</a:t>
            </a:r>
            <a:endParaRPr lang="en-US" sz="1400" dirty="0"/>
          </a:p>
        </p:txBody>
      </p:sp>
      <p:sp>
        <p:nvSpPr>
          <p:cNvPr id="20" name="Text 18"/>
          <p:cNvSpPr/>
          <p:nvPr/>
        </p:nvSpPr>
        <p:spPr>
          <a:xfrm>
            <a:off x="1188720" y="3520440"/>
            <a:ext cx="10241280" cy="219456"/>
          </a:xfrm>
          <a:prstGeom prst="rect">
            <a:avLst/>
          </a:prstGeom>
          <a:noFill/>
          <a:ln/>
        </p:spPr>
        <p:txBody>
          <a:bodyPr wrap="square" lIns="0" tIns="0" rIns="0" bIns="0" rtlCol="0" anchor="ctr"/>
          <a:lstStyle/>
          <a:p>
            <a:pPr indent="0" marL="0">
              <a:buNone/>
            </a:pPr>
            <a:r>
              <a:rPr lang="en-US" sz="1300" b="1" dirty="0">
                <a:solidFill>
                  <a:srgbClr val="0B1F33"/>
                </a:solidFill>
                <a:latin typeface="Arial" pitchFamily="34" charset="0"/>
                <a:ea typeface="Arial" pitchFamily="34" charset="-122"/>
                <a:cs typeface="Arial" pitchFamily="34" charset="-120"/>
              </a:rPr>
              <a:t>公開リテラシーのギャップ＝研究機会</a:t>
            </a:r>
            <a:endParaRPr lang="en-US" sz="1300" dirty="0"/>
          </a:p>
        </p:txBody>
      </p:sp>
      <p:sp>
        <p:nvSpPr>
          <p:cNvPr id="21" name="Text 19"/>
          <p:cNvSpPr/>
          <p:nvPr/>
        </p:nvSpPr>
        <p:spPr>
          <a:xfrm>
            <a:off x="1188720" y="3739896"/>
            <a:ext cx="10241280" cy="347472"/>
          </a:xfrm>
          <a:prstGeom prst="rect">
            <a:avLst/>
          </a:prstGeom>
          <a:noFill/>
          <a:ln/>
        </p:spPr>
        <p:txBody>
          <a:bodyPr wrap="square" lIns="0" tIns="0" rIns="0" bIns="0" rtlCol="0" anchor="ctr"/>
          <a:lstStyle/>
          <a:p>
            <a:pPr indent="0" marL="0">
              <a:buNone/>
            </a:pPr>
            <a:r>
              <a:rPr lang="en-US" sz="1100" dirty="0">
                <a:solidFill>
                  <a:srgbClr val="5A6B73"/>
                </a:solidFill>
                <a:latin typeface="Arial" pitchFamily="34" charset="0"/>
                <a:ea typeface="Arial" pitchFamily="34" charset="-122"/>
                <a:cs typeface="Arial" pitchFamily="34" charset="-120"/>
              </a:rPr>
              <a:t>機関計画は構成と制約を記録する。しかし一般向けツールは、偽の精確さなしに連鎖する空間リスクやシナリオ比較を見せるものが少ない。それがAtlasの設計ギャップ。</a:t>
            </a:r>
            <a:endParaRPr lang="en-US" sz="1100" dirty="0"/>
          </a:p>
        </p:txBody>
      </p:sp>
      <p:sp>
        <p:nvSpPr>
          <p:cNvPr id="22" name="Text 20"/>
          <p:cNvSpPr/>
          <p:nvPr/>
        </p:nvSpPr>
        <p:spPr>
          <a:xfrm>
            <a:off x="457200" y="4251960"/>
            <a:ext cx="11247120" cy="256032"/>
          </a:xfrm>
          <a:prstGeom prst="rect">
            <a:avLst/>
          </a:prstGeom>
          <a:noFill/>
          <a:ln/>
        </p:spPr>
        <p:txBody>
          <a:bodyPr wrap="square" lIns="0" tIns="0" rIns="0" bIns="0" rtlCol="0" anchor="ctr"/>
          <a:lstStyle/>
          <a:p>
            <a:pPr indent="0" marL="0">
              <a:buNone/>
            </a:pPr>
            <a:r>
              <a:rPr lang="en-US" sz="1000" dirty="0">
                <a:solidFill>
                  <a:srgbClr val="0E5F6B"/>
                </a:solidFill>
                <a:latin typeface="Arial" pitchFamily="34" charset="0"/>
                <a:ea typeface="Arial" pitchFamily="34" charset="-122"/>
                <a:cs typeface="Arial" pitchFamily="34" charset="-120"/>
              </a:rPr>
              <a:t>主な出典: LADWP UWMP / Briefing Book · Hundley 2001 · Kahrl 1982 · MacDonald 2010 · Barnett &amp; Pierce 2008 · Gleick 2010 · コロラド川協定 / USBR</a:t>
            </a:r>
            <a:endParaRPr lang="en-US" sz="1000" dirty="0"/>
          </a:p>
        </p:txBody>
      </p:sp>
      <p:sp>
        <p:nvSpPr>
          <p:cNvPr id="23" name="Shape 21"/>
          <p:cNvSpPr/>
          <p:nvPr/>
        </p:nvSpPr>
        <p:spPr>
          <a:xfrm>
            <a:off x="0" y="4828032"/>
            <a:ext cx="12191695" cy="201168"/>
          </a:xfrm>
          <a:prstGeom prst="rect">
            <a:avLst/>
          </a:prstGeom>
          <a:solidFill>
            <a:srgbClr val="0B1F33"/>
          </a:solidFill>
          <a:ln/>
        </p:spPr>
      </p:sp>
      <p:sp>
        <p:nvSpPr>
          <p:cNvPr id="24" name="Text 22"/>
          <p:cNvSpPr/>
          <p:nvPr/>
        </p:nvSpPr>
        <p:spPr>
          <a:xfrm>
            <a:off x="365760" y="4846320"/>
            <a:ext cx="5486400" cy="164592"/>
          </a:xfrm>
          <a:prstGeom prst="rect">
            <a:avLst/>
          </a:prstGeom>
          <a:noFill/>
          <a:ln/>
        </p:spPr>
        <p:txBody>
          <a:bodyPr wrap="square" lIns="0" tIns="0" rIns="0" bIns="0" rtlCol="0" anchor="ctr"/>
          <a:lstStyle/>
          <a:p>
            <a:pPr indent="0" marL="0">
              <a:buNone/>
            </a:pPr>
            <a:r>
              <a:rPr lang="en-US" sz="800" b="1" dirty="0">
                <a:solidFill>
                  <a:srgbClr val="E8F2F3"/>
                </a:solidFill>
                <a:latin typeface="Arial" pitchFamily="34" charset="0"/>
                <a:ea typeface="Arial" pitchFamily="34" charset="-122"/>
                <a:cs typeface="Arial" pitchFamily="34" charset="-120"/>
              </a:rPr>
              <a:t>LA WATER SECURITY ATLAS</a:t>
            </a:r>
            <a:endParaRPr lang="en-US" sz="800" dirty="0"/>
          </a:p>
        </p:txBody>
      </p:sp>
      <p:sp>
        <p:nvSpPr>
          <p:cNvPr id="25" name="Text 23"/>
          <p:cNvSpPr/>
          <p:nvPr/>
        </p:nvSpPr>
        <p:spPr>
          <a:xfrm>
            <a:off x="7498080" y="4846320"/>
            <a:ext cx="4297680" cy="164592"/>
          </a:xfrm>
          <a:prstGeom prst="rect">
            <a:avLst/>
          </a:prstGeom>
          <a:noFill/>
          <a:ln/>
        </p:spPr>
        <p:txBody>
          <a:bodyPr wrap="square" lIns="0" tIns="0" rIns="0" bIns="0" rtlCol="0" anchor="ctr"/>
          <a:lstStyle/>
          <a:p>
            <a:pPr algn="r" indent="0" marL="0">
              <a:buNone/>
            </a:pPr>
            <a:r>
              <a:rPr lang="en-US" sz="800" dirty="0">
                <a:solidFill>
                  <a:srgbClr val="E8F2F3"/>
                </a:solidFill>
                <a:latin typeface="Arial" pitchFamily="34" charset="0"/>
                <a:ea typeface="Arial" pitchFamily="34" charset="-122"/>
                <a:cs typeface="Arial" pitchFamily="34" charset="-120"/>
              </a:rPr>
              <a:t>野澤カイ  ·  4 / 15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029200"/>
          </a:xfrm>
          <a:prstGeom prst="rect">
            <a:avLst/>
          </a:prstGeom>
          <a:solidFill>
            <a:srgbClr val="F4F6F5"/>
          </a:solidFill>
          <a:ln/>
        </p:spPr>
      </p:sp>
      <p:sp>
        <p:nvSpPr>
          <p:cNvPr id="3" name="Text 1"/>
          <p:cNvSpPr/>
          <p:nvPr/>
        </p:nvSpPr>
        <p:spPr>
          <a:xfrm>
            <a:off x="457200" y="256032"/>
            <a:ext cx="11247120" cy="256032"/>
          </a:xfrm>
          <a:prstGeom prst="rect">
            <a:avLst/>
          </a:prstGeom>
          <a:noFill/>
          <a:ln/>
        </p:spPr>
        <p:txBody>
          <a:bodyPr wrap="square" lIns="0" tIns="0" rIns="0" bIns="0" rtlCol="0" anchor="ctr"/>
          <a:lstStyle/>
          <a:p>
            <a:pPr indent="0" marL="0">
              <a:buNone/>
            </a:pPr>
            <a:r>
              <a:rPr lang="en-US" sz="1100" b="1" spc="200" kern="0" dirty="0">
                <a:solidFill>
                  <a:srgbClr val="0E5F6B"/>
                </a:solidFill>
                <a:latin typeface="Arial" pitchFamily="34" charset="0"/>
                <a:ea typeface="Arial" pitchFamily="34" charset="-122"/>
                <a:cs typeface="Arial" pitchFamily="34" charset="-120"/>
              </a:rPr>
              <a:t>研究問い</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400" b="1" dirty="0">
                <a:solidFill>
                  <a:srgbClr val="0B1F33"/>
                </a:solidFill>
                <a:latin typeface="Arial" pitchFamily="34" charset="0"/>
                <a:ea typeface="Arial" pitchFamily="34" charset="-122"/>
                <a:cs typeface="Arial" pitchFamily="34" charset="-120"/>
              </a:rPr>
              <a:t>Where から Why、そして What if へ</a:t>
            </a:r>
            <a:endParaRPr lang="en-US" sz="2400" dirty="0"/>
          </a:p>
        </p:txBody>
      </p:sp>
      <p:sp>
        <p:nvSpPr>
          <p:cNvPr id="5" name="Shape 3"/>
          <p:cNvSpPr/>
          <p:nvPr/>
        </p:nvSpPr>
        <p:spPr>
          <a:xfrm>
            <a:off x="457200" y="1188720"/>
            <a:ext cx="11247120" cy="1143000"/>
          </a:xfrm>
          <a:prstGeom prst="roundRect">
            <a:avLst>
              <a:gd name="adj" fmla="val 4800"/>
            </a:avLst>
          </a:prstGeom>
          <a:solidFill>
            <a:srgbClr val="E8F2F3"/>
          </a:solidFill>
          <a:ln/>
        </p:spPr>
      </p:sp>
      <p:sp>
        <p:nvSpPr>
          <p:cNvPr id="6" name="Text 4"/>
          <p:cNvSpPr/>
          <p:nvPr/>
        </p:nvSpPr>
        <p:spPr>
          <a:xfrm>
            <a:off x="685800" y="1371600"/>
            <a:ext cx="10789920" cy="822960"/>
          </a:xfrm>
          <a:prstGeom prst="rect">
            <a:avLst/>
          </a:prstGeom>
          <a:noFill/>
          <a:ln/>
        </p:spPr>
        <p:txBody>
          <a:bodyPr wrap="square" lIns="0" tIns="0" rIns="0" bIns="0" rtlCol="0" anchor="ctr"/>
          <a:lstStyle/>
          <a:p>
            <a:pPr indent="0" marL="0">
              <a:buNone/>
            </a:pPr>
            <a:r>
              <a:rPr lang="en-US" sz="1400" dirty="0">
                <a:solidFill>
                  <a:srgbClr val="14233A"/>
                </a:solidFill>
                <a:latin typeface="Arial" pitchFamily="34" charset="0"/>
                <a:ea typeface="Arial" pitchFamily="34" charset="-122"/>
                <a:cs typeface="Arial" pitchFamily="34" charset="-120"/>
              </a:rPr>
              <a:t>主問い: 南カリフォルニアの都市用水は空間的・制度的にどのように生産され、気候・旱魃・人口・エネルギーのストレスを重ねると、どのような脆弱性が見えるか？</a:t>
            </a:r>
            <a:endParaRPr lang="en-US" sz="1400" dirty="0"/>
          </a:p>
        </p:txBody>
      </p:sp>
      <p:sp>
        <p:nvSpPr>
          <p:cNvPr id="7" name="Shape 5"/>
          <p:cNvSpPr/>
          <p:nvPr/>
        </p:nvSpPr>
        <p:spPr>
          <a:xfrm>
            <a:off x="457200" y="2560320"/>
            <a:ext cx="5623560" cy="868680"/>
          </a:xfrm>
          <a:prstGeom prst="roundRect">
            <a:avLst>
              <a:gd name="adj" fmla="val 6316"/>
            </a:avLst>
          </a:prstGeom>
          <a:solidFill>
            <a:srgbClr val="FFFFFF"/>
          </a:solidFill>
          <a:ln w="12700">
            <a:solidFill>
              <a:srgbClr val="C5D2D4"/>
            </a:solidFill>
            <a:prstDash val="solid"/>
          </a:ln>
        </p:spPr>
      </p:sp>
      <p:sp>
        <p:nvSpPr>
          <p:cNvPr id="8" name="Shape 6"/>
          <p:cNvSpPr/>
          <p:nvPr/>
        </p:nvSpPr>
        <p:spPr>
          <a:xfrm>
            <a:off x="457200" y="2560320"/>
            <a:ext cx="73152" cy="868680"/>
          </a:xfrm>
          <a:prstGeom prst="rect">
            <a:avLst/>
          </a:prstGeom>
          <a:solidFill>
            <a:srgbClr val="0E5F6B"/>
          </a:solidFill>
          <a:ln/>
        </p:spPr>
      </p:sp>
      <p:sp>
        <p:nvSpPr>
          <p:cNvPr id="9" name="Text 7"/>
          <p:cNvSpPr/>
          <p:nvPr/>
        </p:nvSpPr>
        <p:spPr>
          <a:xfrm>
            <a:off x="658368" y="2688336"/>
            <a:ext cx="530352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RQ1 · Where</a:t>
            </a:r>
            <a:endParaRPr lang="en-US" sz="1200" dirty="0"/>
          </a:p>
        </p:txBody>
      </p:sp>
      <p:sp>
        <p:nvSpPr>
          <p:cNvPr id="10" name="Text 8"/>
          <p:cNvSpPr/>
          <p:nvPr/>
        </p:nvSpPr>
        <p:spPr>
          <a:xfrm>
            <a:off x="658368" y="2944368"/>
            <a:ext cx="5303520" cy="36576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ロサンゼルスを支える水源と回廊は何か。それぞれの地理はどう異なるか。</a:t>
            </a:r>
            <a:endParaRPr lang="en-US" sz="1100" dirty="0"/>
          </a:p>
        </p:txBody>
      </p:sp>
      <p:sp>
        <p:nvSpPr>
          <p:cNvPr id="11" name="Shape 9"/>
          <p:cNvSpPr/>
          <p:nvPr/>
        </p:nvSpPr>
        <p:spPr>
          <a:xfrm>
            <a:off x="6309360" y="2560320"/>
            <a:ext cx="5623560" cy="868680"/>
          </a:xfrm>
          <a:prstGeom prst="roundRect">
            <a:avLst>
              <a:gd name="adj" fmla="val 6316"/>
            </a:avLst>
          </a:prstGeom>
          <a:solidFill>
            <a:srgbClr val="FFFFFF"/>
          </a:solidFill>
          <a:ln w="12700">
            <a:solidFill>
              <a:srgbClr val="C5D2D4"/>
            </a:solidFill>
            <a:prstDash val="solid"/>
          </a:ln>
        </p:spPr>
      </p:sp>
      <p:sp>
        <p:nvSpPr>
          <p:cNvPr id="12" name="Shape 10"/>
          <p:cNvSpPr/>
          <p:nvPr/>
        </p:nvSpPr>
        <p:spPr>
          <a:xfrm>
            <a:off x="6309360" y="2560320"/>
            <a:ext cx="73152" cy="868680"/>
          </a:xfrm>
          <a:prstGeom prst="rect">
            <a:avLst/>
          </a:prstGeom>
          <a:solidFill>
            <a:srgbClr val="9A7B3C"/>
          </a:solidFill>
          <a:ln/>
        </p:spPr>
      </p:sp>
      <p:sp>
        <p:nvSpPr>
          <p:cNvPr id="13" name="Text 11"/>
          <p:cNvSpPr/>
          <p:nvPr/>
        </p:nvSpPr>
        <p:spPr>
          <a:xfrm>
            <a:off x="6510528" y="2688336"/>
            <a:ext cx="530352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RQ2 · Why</a:t>
            </a:r>
            <a:endParaRPr lang="en-US" sz="1200" dirty="0"/>
          </a:p>
        </p:txBody>
      </p:sp>
      <p:sp>
        <p:nvSpPr>
          <p:cNvPr id="14" name="Text 12"/>
          <p:cNvSpPr/>
          <p:nvPr/>
        </p:nvSpPr>
        <p:spPr>
          <a:xfrm>
            <a:off x="6510528" y="2944368"/>
            <a:ext cx="5303520" cy="36576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なぜ依存が続くのか — 歴史、政策、農業、州間協定、都市成長。</a:t>
            </a:r>
            <a:endParaRPr lang="en-US" sz="1100" dirty="0"/>
          </a:p>
        </p:txBody>
      </p:sp>
      <p:sp>
        <p:nvSpPr>
          <p:cNvPr id="15" name="Shape 13"/>
          <p:cNvSpPr/>
          <p:nvPr/>
        </p:nvSpPr>
        <p:spPr>
          <a:xfrm>
            <a:off x="457200" y="3520440"/>
            <a:ext cx="5623560" cy="868680"/>
          </a:xfrm>
          <a:prstGeom prst="roundRect">
            <a:avLst>
              <a:gd name="adj" fmla="val 6316"/>
            </a:avLst>
          </a:prstGeom>
          <a:solidFill>
            <a:srgbClr val="FFFFFF"/>
          </a:solidFill>
          <a:ln w="12700">
            <a:solidFill>
              <a:srgbClr val="C5D2D4"/>
            </a:solidFill>
            <a:prstDash val="solid"/>
          </a:ln>
        </p:spPr>
      </p:sp>
      <p:sp>
        <p:nvSpPr>
          <p:cNvPr id="16" name="Shape 14"/>
          <p:cNvSpPr/>
          <p:nvPr/>
        </p:nvSpPr>
        <p:spPr>
          <a:xfrm>
            <a:off x="457200" y="3520440"/>
            <a:ext cx="73152" cy="868680"/>
          </a:xfrm>
          <a:prstGeom prst="rect">
            <a:avLst/>
          </a:prstGeom>
          <a:solidFill>
            <a:srgbClr val="0E5F6B"/>
          </a:solidFill>
          <a:ln/>
        </p:spPr>
      </p:sp>
      <p:sp>
        <p:nvSpPr>
          <p:cNvPr id="17" name="Text 15"/>
          <p:cNvSpPr/>
          <p:nvPr/>
        </p:nvSpPr>
        <p:spPr>
          <a:xfrm>
            <a:off x="658368" y="3648456"/>
            <a:ext cx="530352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RQ3 · Risk</a:t>
            </a:r>
            <a:endParaRPr lang="en-US" sz="1200" dirty="0"/>
          </a:p>
        </p:txBody>
      </p:sp>
      <p:sp>
        <p:nvSpPr>
          <p:cNvPr id="18" name="Text 16"/>
          <p:cNvSpPr/>
          <p:nvPr/>
        </p:nvSpPr>
        <p:spPr>
          <a:xfrm>
            <a:off x="658368" y="3904488"/>
            <a:ext cx="5303520" cy="36576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積雪、旱魃、人口、エネルギー制約は、時間とともに脆弱性をどう変えるか。</a:t>
            </a:r>
            <a:endParaRPr lang="en-US" sz="1100" dirty="0"/>
          </a:p>
        </p:txBody>
      </p:sp>
      <p:sp>
        <p:nvSpPr>
          <p:cNvPr id="19" name="Shape 17"/>
          <p:cNvSpPr/>
          <p:nvPr/>
        </p:nvSpPr>
        <p:spPr>
          <a:xfrm>
            <a:off x="6309360" y="3520440"/>
            <a:ext cx="5623560" cy="868680"/>
          </a:xfrm>
          <a:prstGeom prst="roundRect">
            <a:avLst>
              <a:gd name="adj" fmla="val 6316"/>
            </a:avLst>
          </a:prstGeom>
          <a:solidFill>
            <a:srgbClr val="FFFFFF"/>
          </a:solidFill>
          <a:ln w="12700">
            <a:solidFill>
              <a:srgbClr val="C5D2D4"/>
            </a:solidFill>
            <a:prstDash val="solid"/>
          </a:ln>
        </p:spPr>
      </p:sp>
      <p:sp>
        <p:nvSpPr>
          <p:cNvPr id="20" name="Shape 18"/>
          <p:cNvSpPr/>
          <p:nvPr/>
        </p:nvSpPr>
        <p:spPr>
          <a:xfrm>
            <a:off x="6309360" y="3520440"/>
            <a:ext cx="73152" cy="868680"/>
          </a:xfrm>
          <a:prstGeom prst="rect">
            <a:avLst/>
          </a:prstGeom>
          <a:solidFill>
            <a:srgbClr val="9A7B3C"/>
          </a:solidFill>
          <a:ln/>
        </p:spPr>
      </p:sp>
      <p:sp>
        <p:nvSpPr>
          <p:cNvPr id="21" name="Text 19"/>
          <p:cNvSpPr/>
          <p:nvPr/>
        </p:nvSpPr>
        <p:spPr>
          <a:xfrm>
            <a:off x="6510528" y="3648456"/>
            <a:ext cx="530352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RQ4 · Scenarios</a:t>
            </a:r>
            <a:endParaRPr lang="en-US" sz="1200" dirty="0"/>
          </a:p>
        </p:txBody>
      </p:sp>
      <p:sp>
        <p:nvSpPr>
          <p:cNvPr id="22" name="Text 20"/>
          <p:cNvSpPr/>
          <p:nvPr/>
        </p:nvSpPr>
        <p:spPr>
          <a:xfrm>
            <a:off x="6510528" y="3904488"/>
            <a:ext cx="5303520" cy="36576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不確実性の下で、代替将来をどう比較するか — 単一予測を断定せずに。</a:t>
            </a:r>
            <a:endParaRPr lang="en-US" sz="1100" dirty="0"/>
          </a:p>
        </p:txBody>
      </p:sp>
      <p:sp>
        <p:nvSpPr>
          <p:cNvPr id="23" name="Shape 21"/>
          <p:cNvSpPr/>
          <p:nvPr/>
        </p:nvSpPr>
        <p:spPr>
          <a:xfrm>
            <a:off x="0" y="4828032"/>
            <a:ext cx="12191695" cy="201168"/>
          </a:xfrm>
          <a:prstGeom prst="rect">
            <a:avLst/>
          </a:prstGeom>
          <a:solidFill>
            <a:srgbClr val="0B1F33"/>
          </a:solidFill>
          <a:ln/>
        </p:spPr>
      </p:sp>
      <p:sp>
        <p:nvSpPr>
          <p:cNvPr id="24" name="Text 22"/>
          <p:cNvSpPr/>
          <p:nvPr/>
        </p:nvSpPr>
        <p:spPr>
          <a:xfrm>
            <a:off x="365760" y="4846320"/>
            <a:ext cx="5486400" cy="164592"/>
          </a:xfrm>
          <a:prstGeom prst="rect">
            <a:avLst/>
          </a:prstGeom>
          <a:noFill/>
          <a:ln/>
        </p:spPr>
        <p:txBody>
          <a:bodyPr wrap="square" lIns="0" tIns="0" rIns="0" bIns="0" rtlCol="0" anchor="ctr"/>
          <a:lstStyle/>
          <a:p>
            <a:pPr indent="0" marL="0">
              <a:buNone/>
            </a:pPr>
            <a:r>
              <a:rPr lang="en-US" sz="800" b="1" dirty="0">
                <a:solidFill>
                  <a:srgbClr val="E8F2F3"/>
                </a:solidFill>
                <a:latin typeface="Arial" pitchFamily="34" charset="0"/>
                <a:ea typeface="Arial" pitchFamily="34" charset="-122"/>
                <a:cs typeface="Arial" pitchFamily="34" charset="-120"/>
              </a:rPr>
              <a:t>LA WATER SECURITY ATLAS</a:t>
            </a:r>
            <a:endParaRPr lang="en-US" sz="800" dirty="0"/>
          </a:p>
        </p:txBody>
      </p:sp>
      <p:sp>
        <p:nvSpPr>
          <p:cNvPr id="25" name="Text 23"/>
          <p:cNvSpPr/>
          <p:nvPr/>
        </p:nvSpPr>
        <p:spPr>
          <a:xfrm>
            <a:off x="7498080" y="4846320"/>
            <a:ext cx="4297680" cy="164592"/>
          </a:xfrm>
          <a:prstGeom prst="rect">
            <a:avLst/>
          </a:prstGeom>
          <a:noFill/>
          <a:ln/>
        </p:spPr>
        <p:txBody>
          <a:bodyPr wrap="square" lIns="0" tIns="0" rIns="0" bIns="0" rtlCol="0" anchor="ctr"/>
          <a:lstStyle/>
          <a:p>
            <a:pPr algn="r" indent="0" marL="0">
              <a:buNone/>
            </a:pPr>
            <a:r>
              <a:rPr lang="en-US" sz="800" dirty="0">
                <a:solidFill>
                  <a:srgbClr val="E8F2F3"/>
                </a:solidFill>
                <a:latin typeface="Arial" pitchFamily="34" charset="0"/>
                <a:ea typeface="Arial" pitchFamily="34" charset="-122"/>
                <a:cs typeface="Arial" pitchFamily="34" charset="-120"/>
              </a:rPr>
              <a:t>野澤カイ  ·  5 / 15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029200"/>
          </a:xfrm>
          <a:prstGeom prst="rect">
            <a:avLst/>
          </a:prstGeom>
          <a:solidFill>
            <a:srgbClr val="F4F6F5"/>
          </a:solidFill>
          <a:ln/>
        </p:spPr>
      </p:sp>
      <p:sp>
        <p:nvSpPr>
          <p:cNvPr id="3" name="Text 1"/>
          <p:cNvSpPr/>
          <p:nvPr/>
        </p:nvSpPr>
        <p:spPr>
          <a:xfrm>
            <a:off x="457200" y="256032"/>
            <a:ext cx="11247120" cy="256032"/>
          </a:xfrm>
          <a:prstGeom prst="rect">
            <a:avLst/>
          </a:prstGeom>
          <a:noFill/>
          <a:ln/>
        </p:spPr>
        <p:txBody>
          <a:bodyPr wrap="square" lIns="0" tIns="0" rIns="0" bIns="0" rtlCol="0" anchor="ctr"/>
          <a:lstStyle/>
          <a:p>
            <a:pPr indent="0" marL="0">
              <a:buNone/>
            </a:pPr>
            <a:r>
              <a:rPr lang="en-US" sz="1100" b="1" spc="200" kern="0" dirty="0">
                <a:solidFill>
                  <a:srgbClr val="0E5F6B"/>
                </a:solidFill>
                <a:latin typeface="Arial" pitchFamily="34" charset="0"/>
                <a:ea typeface="Arial" pitchFamily="34" charset="-122"/>
                <a:cs typeface="Arial" pitchFamily="34" charset="-120"/>
              </a:rPr>
              <a:t>プラットフォーム構成</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400" b="1" dirty="0">
                <a:solidFill>
                  <a:srgbClr val="0B1F33"/>
                </a:solidFill>
                <a:latin typeface="Arial" pitchFamily="34" charset="0"/>
                <a:ea typeface="Arial" pitchFamily="34" charset="-122"/>
                <a:cs typeface="Arial" pitchFamily="34" charset="-120"/>
              </a:rPr>
              <a:t>7レイヤー + シミュレーション — ひとつのGIS基盤</a:t>
            </a:r>
            <a:endParaRPr lang="en-US" sz="2400" dirty="0"/>
          </a:p>
        </p:txBody>
      </p:sp>
      <p:sp>
        <p:nvSpPr>
          <p:cNvPr id="5" name="Shape 3"/>
          <p:cNvSpPr/>
          <p:nvPr/>
        </p:nvSpPr>
        <p:spPr>
          <a:xfrm>
            <a:off x="365760" y="1234440"/>
            <a:ext cx="1554480" cy="2606040"/>
          </a:xfrm>
          <a:prstGeom prst="roundRect">
            <a:avLst>
              <a:gd name="adj" fmla="val 3529"/>
            </a:avLst>
          </a:prstGeom>
          <a:solidFill>
            <a:srgbClr val="FFFFFF"/>
          </a:solidFill>
          <a:ln w="12700">
            <a:solidFill>
              <a:srgbClr val="C5D2D4"/>
            </a:solidFill>
            <a:prstDash val="solid"/>
          </a:ln>
        </p:spPr>
      </p:sp>
      <p:sp>
        <p:nvSpPr>
          <p:cNvPr id="6" name="Shape 4"/>
          <p:cNvSpPr/>
          <p:nvPr/>
        </p:nvSpPr>
        <p:spPr>
          <a:xfrm>
            <a:off x="822960" y="1417320"/>
            <a:ext cx="640080" cy="640080"/>
          </a:xfrm>
          <a:prstGeom prst="ellipse">
            <a:avLst/>
          </a:prstGeom>
          <a:solidFill>
            <a:srgbClr val="0B1F33"/>
          </a:solidFill>
          <a:ln/>
        </p:spPr>
      </p:sp>
      <p:sp>
        <p:nvSpPr>
          <p:cNvPr id="7" name="Text 5"/>
          <p:cNvSpPr/>
          <p:nvPr/>
        </p:nvSpPr>
        <p:spPr>
          <a:xfrm>
            <a:off x="822960" y="1554480"/>
            <a:ext cx="64008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8" name="Text 6"/>
          <p:cNvSpPr/>
          <p:nvPr/>
        </p:nvSpPr>
        <p:spPr>
          <a:xfrm>
            <a:off x="457200" y="2194560"/>
            <a:ext cx="1371600" cy="365760"/>
          </a:xfrm>
          <a:prstGeom prst="rect">
            <a:avLst/>
          </a:prstGeom>
          <a:noFill/>
          <a:ln/>
        </p:spPr>
        <p:txBody>
          <a:bodyPr wrap="square" lIns="0" tIns="0" rIns="0" bIns="0" rtlCol="0" anchor="ctr"/>
          <a:lstStyle/>
          <a:p>
            <a:pPr algn="ctr" indent="0" marL="0">
              <a:buNone/>
            </a:pPr>
            <a:r>
              <a:rPr lang="en-US" sz="1300" b="1" dirty="0">
                <a:solidFill>
                  <a:srgbClr val="0B1F33"/>
                </a:solidFill>
                <a:latin typeface="Arial" pitchFamily="34" charset="0"/>
                <a:ea typeface="Arial" pitchFamily="34" charset="-122"/>
                <a:cs typeface="Arial" pitchFamily="34" charset="-120"/>
              </a:rPr>
              <a:t>水源</a:t>
            </a:r>
            <a:endParaRPr lang="en-US" sz="1300" dirty="0"/>
          </a:p>
        </p:txBody>
      </p:sp>
      <p:sp>
        <p:nvSpPr>
          <p:cNvPr id="9" name="Text 7"/>
          <p:cNvSpPr/>
          <p:nvPr/>
        </p:nvSpPr>
        <p:spPr>
          <a:xfrm>
            <a:off x="457200" y="2651760"/>
            <a:ext cx="1371600" cy="1005840"/>
          </a:xfrm>
          <a:prstGeom prst="rect">
            <a:avLst/>
          </a:prstGeom>
          <a:noFill/>
          <a:ln/>
        </p:spPr>
        <p:txBody>
          <a:bodyPr wrap="square" lIns="0" tIns="0" rIns="0" bIns="0" rtlCol="0" anchor="ctr"/>
          <a:lstStyle/>
          <a:p>
            <a:pPr algn="ctr" indent="0" marL="0">
              <a:buNone/>
            </a:pPr>
            <a:r>
              <a:rPr lang="en-US" sz="1000" dirty="0">
                <a:solidFill>
                  <a:srgbClr val="5A6B73"/>
                </a:solidFill>
                <a:latin typeface="Arial" pitchFamily="34" charset="0"/>
                <a:ea typeface="Arial" pitchFamily="34" charset="-122"/>
                <a:cs typeface="Arial" pitchFamily="34" charset="-120"/>
              </a:rPr>
              <a:t>コロラド · オーウェンズ · SWP · 地下水 · 再生水</a:t>
            </a:r>
            <a:endParaRPr lang="en-US" sz="1000" dirty="0"/>
          </a:p>
        </p:txBody>
      </p:sp>
      <p:sp>
        <p:nvSpPr>
          <p:cNvPr id="10" name="Shape 8"/>
          <p:cNvSpPr/>
          <p:nvPr/>
        </p:nvSpPr>
        <p:spPr>
          <a:xfrm>
            <a:off x="2029968" y="1234440"/>
            <a:ext cx="1554480" cy="2606040"/>
          </a:xfrm>
          <a:prstGeom prst="roundRect">
            <a:avLst>
              <a:gd name="adj" fmla="val 3529"/>
            </a:avLst>
          </a:prstGeom>
          <a:solidFill>
            <a:srgbClr val="FFFFFF"/>
          </a:solidFill>
          <a:ln w="12700">
            <a:solidFill>
              <a:srgbClr val="C5D2D4"/>
            </a:solidFill>
            <a:prstDash val="solid"/>
          </a:ln>
        </p:spPr>
      </p:sp>
      <p:sp>
        <p:nvSpPr>
          <p:cNvPr id="11" name="Shape 9"/>
          <p:cNvSpPr/>
          <p:nvPr/>
        </p:nvSpPr>
        <p:spPr>
          <a:xfrm>
            <a:off x="2487168" y="1417320"/>
            <a:ext cx="640080" cy="640080"/>
          </a:xfrm>
          <a:prstGeom prst="ellipse">
            <a:avLst/>
          </a:prstGeom>
          <a:solidFill>
            <a:srgbClr val="0B1F33"/>
          </a:solidFill>
          <a:ln/>
        </p:spPr>
      </p:sp>
      <p:sp>
        <p:nvSpPr>
          <p:cNvPr id="12" name="Text 10"/>
          <p:cNvSpPr/>
          <p:nvPr/>
        </p:nvSpPr>
        <p:spPr>
          <a:xfrm>
            <a:off x="2487168" y="1554480"/>
            <a:ext cx="64008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3" name="Text 11"/>
          <p:cNvSpPr/>
          <p:nvPr/>
        </p:nvSpPr>
        <p:spPr>
          <a:xfrm>
            <a:off x="2121408" y="2194560"/>
            <a:ext cx="1371600" cy="365760"/>
          </a:xfrm>
          <a:prstGeom prst="rect">
            <a:avLst/>
          </a:prstGeom>
          <a:noFill/>
          <a:ln/>
        </p:spPr>
        <p:txBody>
          <a:bodyPr wrap="square" lIns="0" tIns="0" rIns="0" bIns="0" rtlCol="0" anchor="ctr"/>
          <a:lstStyle/>
          <a:p>
            <a:pPr algn="ctr" indent="0" marL="0">
              <a:buNone/>
            </a:pPr>
            <a:r>
              <a:rPr lang="en-US" sz="1300" b="1" dirty="0">
                <a:solidFill>
                  <a:srgbClr val="0B1F33"/>
                </a:solidFill>
                <a:latin typeface="Arial" pitchFamily="34" charset="0"/>
                <a:ea typeface="Arial" pitchFamily="34" charset="-122"/>
                <a:cs typeface="Arial" pitchFamily="34" charset="-120"/>
              </a:rPr>
              <a:t>過程</a:t>
            </a:r>
            <a:endParaRPr lang="en-US" sz="1300" dirty="0"/>
          </a:p>
        </p:txBody>
      </p:sp>
      <p:sp>
        <p:nvSpPr>
          <p:cNvPr id="14" name="Text 12"/>
          <p:cNvSpPr/>
          <p:nvPr/>
        </p:nvSpPr>
        <p:spPr>
          <a:xfrm>
            <a:off x="2121408" y="2651760"/>
            <a:ext cx="1371600" cy="1005840"/>
          </a:xfrm>
          <a:prstGeom prst="rect">
            <a:avLst/>
          </a:prstGeom>
          <a:noFill/>
          <a:ln/>
        </p:spPr>
        <p:txBody>
          <a:bodyPr wrap="square" lIns="0" tIns="0" rIns="0" bIns="0" rtlCol="0" anchor="ctr"/>
          <a:lstStyle/>
          <a:p>
            <a:pPr algn="ctr" indent="0" marL="0">
              <a:buNone/>
            </a:pPr>
            <a:r>
              <a:rPr lang="en-US" sz="1000" dirty="0">
                <a:solidFill>
                  <a:srgbClr val="5A6B73"/>
                </a:solidFill>
                <a:latin typeface="Arial" pitchFamily="34" charset="0"/>
                <a:ea typeface="Arial" pitchFamily="34" charset="-122"/>
                <a:cs typeface="Arial" pitchFamily="34" charset="-120"/>
              </a:rPr>
              <a:t>雪 → 貯水 → 水道橋 → 浄水 → 蛇口</a:t>
            </a:r>
            <a:endParaRPr lang="en-US" sz="1000" dirty="0"/>
          </a:p>
        </p:txBody>
      </p:sp>
      <p:sp>
        <p:nvSpPr>
          <p:cNvPr id="15" name="Shape 13"/>
          <p:cNvSpPr/>
          <p:nvPr/>
        </p:nvSpPr>
        <p:spPr>
          <a:xfrm>
            <a:off x="3694176" y="1234440"/>
            <a:ext cx="1554480" cy="2606040"/>
          </a:xfrm>
          <a:prstGeom prst="roundRect">
            <a:avLst>
              <a:gd name="adj" fmla="val 3529"/>
            </a:avLst>
          </a:prstGeom>
          <a:solidFill>
            <a:srgbClr val="FFFFFF"/>
          </a:solidFill>
          <a:ln w="12700">
            <a:solidFill>
              <a:srgbClr val="C5D2D4"/>
            </a:solidFill>
            <a:prstDash val="solid"/>
          </a:ln>
        </p:spPr>
      </p:sp>
      <p:sp>
        <p:nvSpPr>
          <p:cNvPr id="16" name="Shape 14"/>
          <p:cNvSpPr/>
          <p:nvPr/>
        </p:nvSpPr>
        <p:spPr>
          <a:xfrm>
            <a:off x="4151376" y="1417320"/>
            <a:ext cx="640080" cy="640080"/>
          </a:xfrm>
          <a:prstGeom prst="ellipse">
            <a:avLst/>
          </a:prstGeom>
          <a:solidFill>
            <a:srgbClr val="0B1F33"/>
          </a:solidFill>
          <a:ln/>
        </p:spPr>
      </p:sp>
      <p:sp>
        <p:nvSpPr>
          <p:cNvPr id="17" name="Text 15"/>
          <p:cNvSpPr/>
          <p:nvPr/>
        </p:nvSpPr>
        <p:spPr>
          <a:xfrm>
            <a:off x="4151376" y="1554480"/>
            <a:ext cx="64008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8" name="Text 16"/>
          <p:cNvSpPr/>
          <p:nvPr/>
        </p:nvSpPr>
        <p:spPr>
          <a:xfrm>
            <a:off x="3785616" y="2194560"/>
            <a:ext cx="1371600" cy="365760"/>
          </a:xfrm>
          <a:prstGeom prst="rect">
            <a:avLst/>
          </a:prstGeom>
          <a:noFill/>
          <a:ln/>
        </p:spPr>
        <p:txBody>
          <a:bodyPr wrap="square" lIns="0" tIns="0" rIns="0" bIns="0" rtlCol="0" anchor="ctr"/>
          <a:lstStyle/>
          <a:p>
            <a:pPr algn="ctr" indent="0" marL="0">
              <a:buNone/>
            </a:pPr>
            <a:r>
              <a:rPr lang="en-US" sz="1300" b="1" dirty="0">
                <a:solidFill>
                  <a:srgbClr val="0B1F33"/>
                </a:solidFill>
                <a:latin typeface="Arial" pitchFamily="34" charset="0"/>
                <a:ea typeface="Arial" pitchFamily="34" charset="-122"/>
                <a:cs typeface="Arial" pitchFamily="34" charset="-120"/>
              </a:rPr>
              <a:t>インフラ</a:t>
            </a:r>
            <a:endParaRPr lang="en-US" sz="1300" dirty="0"/>
          </a:p>
        </p:txBody>
      </p:sp>
      <p:sp>
        <p:nvSpPr>
          <p:cNvPr id="19" name="Text 17"/>
          <p:cNvSpPr/>
          <p:nvPr/>
        </p:nvSpPr>
        <p:spPr>
          <a:xfrm>
            <a:off x="3785616" y="2651760"/>
            <a:ext cx="1371600" cy="1005840"/>
          </a:xfrm>
          <a:prstGeom prst="rect">
            <a:avLst/>
          </a:prstGeom>
          <a:noFill/>
          <a:ln/>
        </p:spPr>
        <p:txBody>
          <a:bodyPr wrap="square" lIns="0" tIns="0" rIns="0" bIns="0" rtlCol="0" anchor="ctr"/>
          <a:lstStyle/>
          <a:p>
            <a:pPr algn="ctr" indent="0" marL="0">
              <a:buNone/>
            </a:pPr>
            <a:r>
              <a:rPr lang="en-US" sz="1000" dirty="0">
                <a:solidFill>
                  <a:srgbClr val="5A6B73"/>
                </a:solidFill>
                <a:latin typeface="Arial" pitchFamily="34" charset="0"/>
                <a:ea typeface="Arial" pitchFamily="34" charset="-122"/>
                <a:cs typeface="Arial" pitchFamily="34" charset="-120"/>
              </a:rPr>
              <a:t>延長 · ポンプ · 揚程 · 電力 · 費用 · メディア</a:t>
            </a:r>
            <a:endParaRPr lang="en-US" sz="1000" dirty="0"/>
          </a:p>
        </p:txBody>
      </p:sp>
      <p:sp>
        <p:nvSpPr>
          <p:cNvPr id="20" name="Shape 18"/>
          <p:cNvSpPr/>
          <p:nvPr/>
        </p:nvSpPr>
        <p:spPr>
          <a:xfrm>
            <a:off x="5358384" y="1234440"/>
            <a:ext cx="1554480" cy="2606040"/>
          </a:xfrm>
          <a:prstGeom prst="roundRect">
            <a:avLst>
              <a:gd name="adj" fmla="val 3529"/>
            </a:avLst>
          </a:prstGeom>
          <a:solidFill>
            <a:srgbClr val="FFFFFF"/>
          </a:solidFill>
          <a:ln w="12700">
            <a:solidFill>
              <a:srgbClr val="C5D2D4"/>
            </a:solidFill>
            <a:prstDash val="solid"/>
          </a:ln>
        </p:spPr>
      </p:sp>
      <p:sp>
        <p:nvSpPr>
          <p:cNvPr id="21" name="Shape 19"/>
          <p:cNvSpPr/>
          <p:nvPr/>
        </p:nvSpPr>
        <p:spPr>
          <a:xfrm>
            <a:off x="5815584" y="1417320"/>
            <a:ext cx="640080" cy="640080"/>
          </a:xfrm>
          <a:prstGeom prst="ellipse">
            <a:avLst/>
          </a:prstGeom>
          <a:solidFill>
            <a:srgbClr val="0B1F33"/>
          </a:solidFill>
          <a:ln/>
        </p:spPr>
      </p:sp>
      <p:sp>
        <p:nvSpPr>
          <p:cNvPr id="22" name="Text 20"/>
          <p:cNvSpPr/>
          <p:nvPr/>
        </p:nvSpPr>
        <p:spPr>
          <a:xfrm>
            <a:off x="5815584" y="1554480"/>
            <a:ext cx="64008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3" name="Text 21"/>
          <p:cNvSpPr/>
          <p:nvPr/>
        </p:nvSpPr>
        <p:spPr>
          <a:xfrm>
            <a:off x="5449824" y="2194560"/>
            <a:ext cx="1371600" cy="365760"/>
          </a:xfrm>
          <a:prstGeom prst="rect">
            <a:avLst/>
          </a:prstGeom>
          <a:noFill/>
          <a:ln/>
        </p:spPr>
        <p:txBody>
          <a:bodyPr wrap="square" lIns="0" tIns="0" rIns="0" bIns="0" rtlCol="0" anchor="ctr"/>
          <a:lstStyle/>
          <a:p>
            <a:pPr algn="ctr" indent="0" marL="0">
              <a:buNone/>
            </a:pPr>
            <a:r>
              <a:rPr lang="en-US" sz="1300" b="1" dirty="0">
                <a:solidFill>
                  <a:srgbClr val="0B1F33"/>
                </a:solidFill>
                <a:latin typeface="Arial" pitchFamily="34" charset="0"/>
                <a:ea typeface="Arial" pitchFamily="34" charset="-122"/>
                <a:cs typeface="Arial" pitchFamily="34" charset="-120"/>
              </a:rPr>
              <a:t>気候</a:t>
            </a:r>
            <a:endParaRPr lang="en-US" sz="1300" dirty="0"/>
          </a:p>
        </p:txBody>
      </p:sp>
      <p:sp>
        <p:nvSpPr>
          <p:cNvPr id="24" name="Text 22"/>
          <p:cNvSpPr/>
          <p:nvPr/>
        </p:nvSpPr>
        <p:spPr>
          <a:xfrm>
            <a:off x="5449824" y="2651760"/>
            <a:ext cx="1371600" cy="1005840"/>
          </a:xfrm>
          <a:prstGeom prst="rect">
            <a:avLst/>
          </a:prstGeom>
          <a:noFill/>
          <a:ln/>
        </p:spPr>
        <p:txBody>
          <a:bodyPr wrap="square" lIns="0" tIns="0" rIns="0" bIns="0" rtlCol="0" anchor="ctr"/>
          <a:lstStyle/>
          <a:p>
            <a:pPr algn="ctr" indent="0" marL="0">
              <a:buNone/>
            </a:pPr>
            <a:r>
              <a:rPr lang="en-US" sz="1000" dirty="0">
                <a:solidFill>
                  <a:srgbClr val="5A6B73"/>
                </a:solidFill>
                <a:latin typeface="Arial" pitchFamily="34" charset="0"/>
                <a:ea typeface="Arial" pitchFamily="34" charset="-122"/>
                <a:cs typeface="Arial" pitchFamily="34" charset="-120"/>
              </a:rPr>
              <a:t>積雪時系列 · 貯水との関係</a:t>
            </a:r>
            <a:endParaRPr lang="en-US" sz="1000" dirty="0"/>
          </a:p>
        </p:txBody>
      </p:sp>
      <p:sp>
        <p:nvSpPr>
          <p:cNvPr id="25" name="Shape 23"/>
          <p:cNvSpPr/>
          <p:nvPr/>
        </p:nvSpPr>
        <p:spPr>
          <a:xfrm>
            <a:off x="7022592" y="1234440"/>
            <a:ext cx="1554480" cy="2606040"/>
          </a:xfrm>
          <a:prstGeom prst="roundRect">
            <a:avLst>
              <a:gd name="adj" fmla="val 3529"/>
            </a:avLst>
          </a:prstGeom>
          <a:solidFill>
            <a:srgbClr val="FFFFFF"/>
          </a:solidFill>
          <a:ln w="12700">
            <a:solidFill>
              <a:srgbClr val="C5D2D4"/>
            </a:solidFill>
            <a:prstDash val="solid"/>
          </a:ln>
        </p:spPr>
      </p:sp>
      <p:sp>
        <p:nvSpPr>
          <p:cNvPr id="26" name="Shape 24"/>
          <p:cNvSpPr/>
          <p:nvPr/>
        </p:nvSpPr>
        <p:spPr>
          <a:xfrm>
            <a:off x="7479792" y="1417320"/>
            <a:ext cx="640080" cy="640080"/>
          </a:xfrm>
          <a:prstGeom prst="ellipse">
            <a:avLst/>
          </a:prstGeom>
          <a:solidFill>
            <a:srgbClr val="0B1F33"/>
          </a:solidFill>
          <a:ln/>
        </p:spPr>
      </p:sp>
      <p:sp>
        <p:nvSpPr>
          <p:cNvPr id="27" name="Text 25"/>
          <p:cNvSpPr/>
          <p:nvPr/>
        </p:nvSpPr>
        <p:spPr>
          <a:xfrm>
            <a:off x="7479792" y="1554480"/>
            <a:ext cx="64008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8" name="Text 26"/>
          <p:cNvSpPr/>
          <p:nvPr/>
        </p:nvSpPr>
        <p:spPr>
          <a:xfrm>
            <a:off x="7114032" y="2194560"/>
            <a:ext cx="1371600" cy="365760"/>
          </a:xfrm>
          <a:prstGeom prst="rect">
            <a:avLst/>
          </a:prstGeom>
          <a:noFill/>
          <a:ln/>
        </p:spPr>
        <p:txBody>
          <a:bodyPr wrap="square" lIns="0" tIns="0" rIns="0" bIns="0" rtlCol="0" anchor="ctr"/>
          <a:lstStyle/>
          <a:p>
            <a:pPr algn="ctr" indent="0" marL="0">
              <a:buNone/>
            </a:pPr>
            <a:r>
              <a:rPr lang="en-US" sz="1300" b="1" dirty="0">
                <a:solidFill>
                  <a:srgbClr val="0B1F33"/>
                </a:solidFill>
                <a:latin typeface="Arial" pitchFamily="34" charset="0"/>
                <a:ea typeface="Arial" pitchFamily="34" charset="-122"/>
                <a:cs typeface="Arial" pitchFamily="34" charset="-120"/>
              </a:rPr>
              <a:t>旱魃</a:t>
            </a:r>
            <a:endParaRPr lang="en-US" sz="1300" dirty="0"/>
          </a:p>
        </p:txBody>
      </p:sp>
      <p:sp>
        <p:nvSpPr>
          <p:cNvPr id="29" name="Text 27"/>
          <p:cNvSpPr/>
          <p:nvPr/>
        </p:nvSpPr>
        <p:spPr>
          <a:xfrm>
            <a:off x="7114032" y="2651760"/>
            <a:ext cx="1371600" cy="1005840"/>
          </a:xfrm>
          <a:prstGeom prst="rect">
            <a:avLst/>
          </a:prstGeom>
          <a:noFill/>
          <a:ln/>
        </p:spPr>
        <p:txBody>
          <a:bodyPr wrap="square" lIns="0" tIns="0" rIns="0" bIns="0" rtlCol="0" anchor="ctr"/>
          <a:lstStyle/>
          <a:p>
            <a:pPr algn="ctr" indent="0" marL="0">
              <a:buNone/>
            </a:pPr>
            <a:r>
              <a:rPr lang="en-US" sz="1000" dirty="0">
                <a:solidFill>
                  <a:srgbClr val="5A6B73"/>
                </a:solidFill>
                <a:latin typeface="Arial" pitchFamily="34" charset="0"/>
                <a:ea typeface="Arial" pitchFamily="34" charset="-122"/>
                <a:cs typeface="Arial" pitchFamily="34" charset="-120"/>
              </a:rPr>
              <a:t>2012 → 2015 → 2022 → 2035</a:t>
            </a:r>
            <a:endParaRPr lang="en-US" sz="1000" dirty="0"/>
          </a:p>
        </p:txBody>
      </p:sp>
      <p:sp>
        <p:nvSpPr>
          <p:cNvPr id="30" name="Shape 28"/>
          <p:cNvSpPr/>
          <p:nvPr/>
        </p:nvSpPr>
        <p:spPr>
          <a:xfrm>
            <a:off x="8686800" y="1234440"/>
            <a:ext cx="1554480" cy="2606040"/>
          </a:xfrm>
          <a:prstGeom prst="roundRect">
            <a:avLst>
              <a:gd name="adj" fmla="val 3529"/>
            </a:avLst>
          </a:prstGeom>
          <a:solidFill>
            <a:srgbClr val="FFFFFF"/>
          </a:solidFill>
          <a:ln w="12700">
            <a:solidFill>
              <a:srgbClr val="C5D2D4"/>
            </a:solidFill>
            <a:prstDash val="solid"/>
          </a:ln>
        </p:spPr>
      </p:sp>
      <p:sp>
        <p:nvSpPr>
          <p:cNvPr id="31" name="Shape 29"/>
          <p:cNvSpPr/>
          <p:nvPr/>
        </p:nvSpPr>
        <p:spPr>
          <a:xfrm>
            <a:off x="9144000" y="1417320"/>
            <a:ext cx="640080" cy="640080"/>
          </a:xfrm>
          <a:prstGeom prst="ellipse">
            <a:avLst/>
          </a:prstGeom>
          <a:solidFill>
            <a:srgbClr val="0B1F33"/>
          </a:solidFill>
          <a:ln/>
        </p:spPr>
      </p:sp>
      <p:sp>
        <p:nvSpPr>
          <p:cNvPr id="32" name="Text 30"/>
          <p:cNvSpPr/>
          <p:nvPr/>
        </p:nvSpPr>
        <p:spPr>
          <a:xfrm>
            <a:off x="9144000" y="1554480"/>
            <a:ext cx="64008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33" name="Text 31"/>
          <p:cNvSpPr/>
          <p:nvPr/>
        </p:nvSpPr>
        <p:spPr>
          <a:xfrm>
            <a:off x="8778240" y="2194560"/>
            <a:ext cx="1371600" cy="365760"/>
          </a:xfrm>
          <a:prstGeom prst="rect">
            <a:avLst/>
          </a:prstGeom>
          <a:noFill/>
          <a:ln/>
        </p:spPr>
        <p:txBody>
          <a:bodyPr wrap="square" lIns="0" tIns="0" rIns="0" bIns="0" rtlCol="0" anchor="ctr"/>
          <a:lstStyle/>
          <a:p>
            <a:pPr algn="ctr" indent="0" marL="0">
              <a:buNone/>
            </a:pPr>
            <a:r>
              <a:rPr lang="en-US" sz="1300" b="1" dirty="0">
                <a:solidFill>
                  <a:srgbClr val="0B1F33"/>
                </a:solidFill>
                <a:latin typeface="Arial" pitchFamily="34" charset="0"/>
                <a:ea typeface="Arial" pitchFamily="34" charset="-122"/>
                <a:cs typeface="Arial" pitchFamily="34" charset="-120"/>
              </a:rPr>
              <a:t>人口</a:t>
            </a:r>
            <a:endParaRPr lang="en-US" sz="1300" dirty="0"/>
          </a:p>
        </p:txBody>
      </p:sp>
      <p:sp>
        <p:nvSpPr>
          <p:cNvPr id="34" name="Text 32"/>
          <p:cNvSpPr/>
          <p:nvPr/>
        </p:nvSpPr>
        <p:spPr>
          <a:xfrm>
            <a:off x="8778240" y="2651760"/>
            <a:ext cx="1371600" cy="1005840"/>
          </a:xfrm>
          <a:prstGeom prst="rect">
            <a:avLst/>
          </a:prstGeom>
          <a:noFill/>
          <a:ln/>
        </p:spPr>
        <p:txBody>
          <a:bodyPr wrap="square" lIns="0" tIns="0" rIns="0" bIns="0" rtlCol="0" anchor="ctr"/>
          <a:lstStyle/>
          <a:p>
            <a:pPr algn="ctr" indent="0" marL="0">
              <a:buNone/>
            </a:pPr>
            <a:r>
              <a:rPr lang="en-US" sz="1000" dirty="0">
                <a:solidFill>
                  <a:srgbClr val="5A6B73"/>
                </a:solidFill>
                <a:latin typeface="Arial" pitchFamily="34" charset="0"/>
                <a:ea typeface="Arial" pitchFamily="34" charset="-122"/>
                <a:cs typeface="Arial" pitchFamily="34" charset="-120"/>
              </a:rPr>
              <a:t>需要の重なり · 成長ストレス</a:t>
            </a:r>
            <a:endParaRPr lang="en-US" sz="1000" dirty="0"/>
          </a:p>
        </p:txBody>
      </p:sp>
      <p:sp>
        <p:nvSpPr>
          <p:cNvPr id="35" name="Shape 33"/>
          <p:cNvSpPr/>
          <p:nvPr/>
        </p:nvSpPr>
        <p:spPr>
          <a:xfrm>
            <a:off x="10351008" y="1234440"/>
            <a:ext cx="1554480" cy="2606040"/>
          </a:xfrm>
          <a:prstGeom prst="roundRect">
            <a:avLst>
              <a:gd name="adj" fmla="val 3529"/>
            </a:avLst>
          </a:prstGeom>
          <a:solidFill>
            <a:srgbClr val="FFFFFF"/>
          </a:solidFill>
          <a:ln w="12700">
            <a:solidFill>
              <a:srgbClr val="C5D2D4"/>
            </a:solidFill>
            <a:prstDash val="solid"/>
          </a:ln>
        </p:spPr>
      </p:sp>
      <p:sp>
        <p:nvSpPr>
          <p:cNvPr id="36" name="Shape 34"/>
          <p:cNvSpPr/>
          <p:nvPr/>
        </p:nvSpPr>
        <p:spPr>
          <a:xfrm>
            <a:off x="10808208" y="1417320"/>
            <a:ext cx="640080" cy="640080"/>
          </a:xfrm>
          <a:prstGeom prst="ellipse">
            <a:avLst/>
          </a:prstGeom>
          <a:solidFill>
            <a:srgbClr val="0B1F33"/>
          </a:solidFill>
          <a:ln/>
        </p:spPr>
      </p:sp>
      <p:sp>
        <p:nvSpPr>
          <p:cNvPr id="37" name="Text 35"/>
          <p:cNvSpPr/>
          <p:nvPr/>
        </p:nvSpPr>
        <p:spPr>
          <a:xfrm>
            <a:off x="10808208" y="1554480"/>
            <a:ext cx="64008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7</a:t>
            </a:r>
            <a:endParaRPr lang="en-US" sz="1800" dirty="0"/>
          </a:p>
        </p:txBody>
      </p:sp>
      <p:sp>
        <p:nvSpPr>
          <p:cNvPr id="38" name="Text 36"/>
          <p:cNvSpPr/>
          <p:nvPr/>
        </p:nvSpPr>
        <p:spPr>
          <a:xfrm>
            <a:off x="10442448" y="2194560"/>
            <a:ext cx="1371600" cy="365760"/>
          </a:xfrm>
          <a:prstGeom prst="rect">
            <a:avLst/>
          </a:prstGeom>
          <a:noFill/>
          <a:ln/>
        </p:spPr>
        <p:txBody>
          <a:bodyPr wrap="square" lIns="0" tIns="0" rIns="0" bIns="0" rtlCol="0" anchor="ctr"/>
          <a:lstStyle/>
          <a:p>
            <a:pPr algn="ctr" indent="0" marL="0">
              <a:buNone/>
            </a:pPr>
            <a:r>
              <a:rPr lang="en-US" sz="1300" b="1" dirty="0">
                <a:solidFill>
                  <a:srgbClr val="0B1F33"/>
                </a:solidFill>
                <a:latin typeface="Arial" pitchFamily="34" charset="0"/>
                <a:ea typeface="Arial" pitchFamily="34" charset="-122"/>
                <a:cs typeface="Arial" pitchFamily="34" charset="-120"/>
              </a:rPr>
              <a:t>エネルギー</a:t>
            </a:r>
            <a:endParaRPr lang="en-US" sz="1300" dirty="0"/>
          </a:p>
        </p:txBody>
      </p:sp>
      <p:sp>
        <p:nvSpPr>
          <p:cNvPr id="39" name="Text 37"/>
          <p:cNvSpPr/>
          <p:nvPr/>
        </p:nvSpPr>
        <p:spPr>
          <a:xfrm>
            <a:off x="10442448" y="2651760"/>
            <a:ext cx="1371600" cy="1005840"/>
          </a:xfrm>
          <a:prstGeom prst="rect">
            <a:avLst/>
          </a:prstGeom>
          <a:noFill/>
          <a:ln/>
        </p:spPr>
        <p:txBody>
          <a:bodyPr wrap="square" lIns="0" tIns="0" rIns="0" bIns="0" rtlCol="0" anchor="ctr"/>
          <a:lstStyle/>
          <a:p>
            <a:pPr algn="ctr" indent="0" marL="0">
              <a:buNone/>
            </a:pPr>
            <a:r>
              <a:rPr lang="en-US" sz="1000" dirty="0">
                <a:solidFill>
                  <a:srgbClr val="5A6B73"/>
                </a:solidFill>
                <a:latin typeface="Arial" pitchFamily="34" charset="0"/>
                <a:ea typeface="Arial" pitchFamily="34" charset="-122"/>
                <a:cs typeface="Arial" pitchFamily="34" charset="-120"/>
              </a:rPr>
              <a:t>導水電力 · 停電 → 供給リスク</a:t>
            </a:r>
            <a:endParaRPr lang="en-US" sz="1000" dirty="0"/>
          </a:p>
        </p:txBody>
      </p:sp>
      <p:sp>
        <p:nvSpPr>
          <p:cNvPr id="40" name="Text 38"/>
          <p:cNvSpPr/>
          <p:nvPr/>
        </p:nvSpPr>
        <p:spPr>
          <a:xfrm>
            <a:off x="457200" y="4069080"/>
            <a:ext cx="11247120" cy="320040"/>
          </a:xfrm>
          <a:prstGeom prst="rect">
            <a:avLst/>
          </a:prstGeom>
          <a:noFill/>
          <a:ln/>
        </p:spPr>
        <p:txBody>
          <a:bodyPr wrap="square" lIns="0" tIns="0" rIns="0" bIns="0" rtlCol="0" anchor="ctr"/>
          <a:lstStyle/>
          <a:p>
            <a:pPr indent="0" marL="0">
              <a:buNone/>
            </a:pPr>
            <a:r>
              <a:rPr lang="en-US" sz="1200" b="1" dirty="0">
                <a:solidFill>
                  <a:srgbClr val="0E5F6B"/>
                </a:solidFill>
                <a:latin typeface="Arial" pitchFamily="34" charset="0"/>
                <a:ea typeface="Arial" pitchFamily="34" charset="-122"/>
                <a:cs typeface="Arial" pitchFamily="34" charset="-120"/>
              </a:rPr>
              <a:t>+ 中核機能: シナリオ・シミュレーション  ·  政策シミュレータ  ·  「なぜ」パネル（歴史 · 政策 · 協定）</a:t>
            </a:r>
            <a:endParaRPr lang="en-US" sz="1200" dirty="0"/>
          </a:p>
        </p:txBody>
      </p:sp>
      <p:sp>
        <p:nvSpPr>
          <p:cNvPr id="41" name="Shape 39"/>
          <p:cNvSpPr/>
          <p:nvPr/>
        </p:nvSpPr>
        <p:spPr>
          <a:xfrm>
            <a:off x="0" y="4828032"/>
            <a:ext cx="12191695" cy="201168"/>
          </a:xfrm>
          <a:prstGeom prst="rect">
            <a:avLst/>
          </a:prstGeom>
          <a:solidFill>
            <a:srgbClr val="0B1F33"/>
          </a:solidFill>
          <a:ln/>
        </p:spPr>
      </p:sp>
      <p:sp>
        <p:nvSpPr>
          <p:cNvPr id="42" name="Text 40"/>
          <p:cNvSpPr/>
          <p:nvPr/>
        </p:nvSpPr>
        <p:spPr>
          <a:xfrm>
            <a:off x="365760" y="4846320"/>
            <a:ext cx="5486400" cy="164592"/>
          </a:xfrm>
          <a:prstGeom prst="rect">
            <a:avLst/>
          </a:prstGeom>
          <a:noFill/>
          <a:ln/>
        </p:spPr>
        <p:txBody>
          <a:bodyPr wrap="square" lIns="0" tIns="0" rIns="0" bIns="0" rtlCol="0" anchor="ctr"/>
          <a:lstStyle/>
          <a:p>
            <a:pPr indent="0" marL="0">
              <a:buNone/>
            </a:pPr>
            <a:r>
              <a:rPr lang="en-US" sz="800" b="1" dirty="0">
                <a:solidFill>
                  <a:srgbClr val="E8F2F3"/>
                </a:solidFill>
                <a:latin typeface="Arial" pitchFamily="34" charset="0"/>
                <a:ea typeface="Arial" pitchFamily="34" charset="-122"/>
                <a:cs typeface="Arial" pitchFamily="34" charset="-120"/>
              </a:rPr>
              <a:t>LA WATER SECURITY ATLAS</a:t>
            </a:r>
            <a:endParaRPr lang="en-US" sz="800" dirty="0"/>
          </a:p>
        </p:txBody>
      </p:sp>
      <p:sp>
        <p:nvSpPr>
          <p:cNvPr id="43" name="Text 41"/>
          <p:cNvSpPr/>
          <p:nvPr/>
        </p:nvSpPr>
        <p:spPr>
          <a:xfrm>
            <a:off x="7498080" y="4846320"/>
            <a:ext cx="4297680" cy="164592"/>
          </a:xfrm>
          <a:prstGeom prst="rect">
            <a:avLst/>
          </a:prstGeom>
          <a:noFill/>
          <a:ln/>
        </p:spPr>
        <p:txBody>
          <a:bodyPr wrap="square" lIns="0" tIns="0" rIns="0" bIns="0" rtlCol="0" anchor="ctr"/>
          <a:lstStyle/>
          <a:p>
            <a:pPr algn="r" indent="0" marL="0">
              <a:buNone/>
            </a:pPr>
            <a:r>
              <a:rPr lang="en-US" sz="800" dirty="0">
                <a:solidFill>
                  <a:srgbClr val="E8F2F3"/>
                </a:solidFill>
                <a:latin typeface="Arial" pitchFamily="34" charset="0"/>
                <a:ea typeface="Arial" pitchFamily="34" charset="-122"/>
                <a:cs typeface="Arial" pitchFamily="34" charset="-120"/>
              </a:rPr>
              <a:t>野澤カイ  ·  6 / 15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029200"/>
          </a:xfrm>
          <a:prstGeom prst="rect">
            <a:avLst/>
          </a:prstGeom>
          <a:solidFill>
            <a:srgbClr val="F4F6F5"/>
          </a:solidFill>
          <a:ln/>
        </p:spPr>
      </p:sp>
      <p:sp>
        <p:nvSpPr>
          <p:cNvPr id="3" name="Text 1"/>
          <p:cNvSpPr/>
          <p:nvPr/>
        </p:nvSpPr>
        <p:spPr>
          <a:xfrm>
            <a:off x="457200" y="256032"/>
            <a:ext cx="11247120" cy="256032"/>
          </a:xfrm>
          <a:prstGeom prst="rect">
            <a:avLst/>
          </a:prstGeom>
          <a:noFill/>
          <a:ln/>
        </p:spPr>
        <p:txBody>
          <a:bodyPr wrap="square" lIns="0" tIns="0" rIns="0" bIns="0" rtlCol="0" anchor="ctr"/>
          <a:lstStyle/>
          <a:p>
            <a:pPr indent="0" marL="0">
              <a:buNone/>
            </a:pPr>
            <a:r>
              <a:rPr lang="en-US" sz="1100" b="1" spc="200" kern="0" dirty="0">
                <a:solidFill>
                  <a:srgbClr val="0E5F6B"/>
                </a:solidFill>
                <a:latin typeface="Arial" pitchFamily="34" charset="0"/>
                <a:ea typeface="Arial" pitchFamily="34" charset="-122"/>
                <a:cs typeface="Arial" pitchFamily="34" charset="-120"/>
              </a:rPr>
              <a:t>レイヤー 1–3</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400" b="1" dirty="0">
                <a:solidFill>
                  <a:srgbClr val="0B1F33"/>
                </a:solidFill>
                <a:latin typeface="Arial" pitchFamily="34" charset="0"/>
                <a:ea typeface="Arial" pitchFamily="34" charset="-122"/>
                <a:cs typeface="Arial" pitchFamily="34" charset="-120"/>
              </a:rPr>
              <a:t>水源 · 過程 · インフラ</a:t>
            </a:r>
            <a:endParaRPr lang="en-US" sz="2400" dirty="0"/>
          </a:p>
        </p:txBody>
      </p:sp>
      <p:sp>
        <p:nvSpPr>
          <p:cNvPr id="5" name="Shape 3"/>
          <p:cNvSpPr/>
          <p:nvPr/>
        </p:nvSpPr>
        <p:spPr>
          <a:xfrm>
            <a:off x="457200" y="1188720"/>
            <a:ext cx="3657600" cy="3108960"/>
          </a:xfrm>
          <a:prstGeom prst="roundRect">
            <a:avLst>
              <a:gd name="adj" fmla="val 1765"/>
            </a:avLst>
          </a:prstGeom>
          <a:solidFill>
            <a:srgbClr val="FFFFFF"/>
          </a:solidFill>
          <a:ln w="12700">
            <a:solidFill>
              <a:srgbClr val="C5D2D4"/>
            </a:solidFill>
            <a:prstDash val="solid"/>
          </a:ln>
        </p:spPr>
      </p:sp>
      <p:sp>
        <p:nvSpPr>
          <p:cNvPr id="6" name="Shape 4"/>
          <p:cNvSpPr/>
          <p:nvPr/>
        </p:nvSpPr>
        <p:spPr>
          <a:xfrm>
            <a:off x="457200" y="1188720"/>
            <a:ext cx="73152" cy="3108960"/>
          </a:xfrm>
          <a:prstGeom prst="rect">
            <a:avLst/>
          </a:prstGeom>
          <a:solidFill>
            <a:srgbClr val="0E5F6B"/>
          </a:solidFill>
          <a:ln/>
        </p:spPr>
      </p:sp>
      <p:sp>
        <p:nvSpPr>
          <p:cNvPr id="7" name="Text 5"/>
          <p:cNvSpPr/>
          <p:nvPr/>
        </p:nvSpPr>
        <p:spPr>
          <a:xfrm>
            <a:off x="658368" y="1316736"/>
            <a:ext cx="333756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Layer 1 · 水源</a:t>
            </a:r>
            <a:endParaRPr lang="en-US" sz="1200" dirty="0"/>
          </a:p>
        </p:txBody>
      </p:sp>
      <p:sp>
        <p:nvSpPr>
          <p:cNvPr id="8" name="Text 6"/>
          <p:cNvSpPr/>
          <p:nvPr/>
        </p:nvSpPr>
        <p:spPr>
          <a:xfrm>
            <a:off x="658368" y="1572768"/>
            <a:ext cx="3337560" cy="260604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色分けされた供給源:</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コロラド川</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オーウェンズ谷／東部シエラ</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州水道プロジェクト</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地元地下水</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再生水</a:t>
            </a:r>
            <a:endParaRPr lang="en-US" sz="1100" dirty="0"/>
          </a:p>
          <a:p>
            <a:pPr indent="0" marL="0">
              <a:buNone/>
            </a:pP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クリック → 年間量、構成比の幅、季節変化、近年推移 — 不確実性注記付き。</a:t>
            </a:r>
            <a:endParaRPr lang="en-US" sz="1100" dirty="0"/>
          </a:p>
        </p:txBody>
      </p:sp>
      <p:sp>
        <p:nvSpPr>
          <p:cNvPr id="9" name="Shape 7"/>
          <p:cNvSpPr/>
          <p:nvPr/>
        </p:nvSpPr>
        <p:spPr>
          <a:xfrm>
            <a:off x="4251960" y="1188720"/>
            <a:ext cx="3657600" cy="3108960"/>
          </a:xfrm>
          <a:prstGeom prst="roundRect">
            <a:avLst>
              <a:gd name="adj" fmla="val 1765"/>
            </a:avLst>
          </a:prstGeom>
          <a:solidFill>
            <a:srgbClr val="FFFFFF"/>
          </a:solidFill>
          <a:ln w="12700">
            <a:solidFill>
              <a:srgbClr val="C5D2D4"/>
            </a:solidFill>
            <a:prstDash val="solid"/>
          </a:ln>
        </p:spPr>
      </p:sp>
      <p:sp>
        <p:nvSpPr>
          <p:cNvPr id="10" name="Shape 8"/>
          <p:cNvSpPr/>
          <p:nvPr/>
        </p:nvSpPr>
        <p:spPr>
          <a:xfrm>
            <a:off x="4251960" y="1188720"/>
            <a:ext cx="73152" cy="3108960"/>
          </a:xfrm>
          <a:prstGeom prst="rect">
            <a:avLst/>
          </a:prstGeom>
          <a:solidFill>
            <a:srgbClr val="1F5F7A"/>
          </a:solidFill>
          <a:ln/>
        </p:spPr>
      </p:sp>
      <p:sp>
        <p:nvSpPr>
          <p:cNvPr id="11" name="Text 9"/>
          <p:cNvSpPr/>
          <p:nvPr/>
        </p:nvSpPr>
        <p:spPr>
          <a:xfrm>
            <a:off x="4453128" y="1316736"/>
            <a:ext cx="333756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Layer 2 · 水はどう「作られる」か</a:t>
            </a:r>
            <a:endParaRPr lang="en-US" sz="1200" dirty="0"/>
          </a:p>
        </p:txBody>
      </p:sp>
      <p:sp>
        <p:nvSpPr>
          <p:cNvPr id="12" name="Text 10"/>
          <p:cNvSpPr/>
          <p:nvPr/>
        </p:nvSpPr>
        <p:spPr>
          <a:xfrm>
            <a:off x="4453128" y="1572768"/>
            <a:ext cx="3337560" cy="260604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誤解の訂正: LAの水は「作られる」のではなく、集められ、浄水され、運ばれる。</a:t>
            </a:r>
            <a:endParaRPr lang="en-US" sz="1100" dirty="0"/>
          </a:p>
          <a:p>
            <a:pPr indent="0" marL="0">
              <a:buNone/>
            </a:pP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積雪 → 貯水池 → 水道橋 → 浄水場 → 配水 → 家庭</a:t>
            </a:r>
            <a:endParaRPr lang="en-US" sz="1100" dirty="0"/>
          </a:p>
          <a:p>
            <a:pPr indent="0" marL="0">
              <a:buNone/>
            </a:pP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一般向けの3D過程ビュー。</a:t>
            </a:r>
            <a:endParaRPr lang="en-US" sz="1100" dirty="0"/>
          </a:p>
        </p:txBody>
      </p:sp>
      <p:sp>
        <p:nvSpPr>
          <p:cNvPr id="13" name="Shape 11"/>
          <p:cNvSpPr/>
          <p:nvPr/>
        </p:nvSpPr>
        <p:spPr>
          <a:xfrm>
            <a:off x="8046720" y="1188720"/>
            <a:ext cx="3657600" cy="3108960"/>
          </a:xfrm>
          <a:prstGeom prst="roundRect">
            <a:avLst>
              <a:gd name="adj" fmla="val 1765"/>
            </a:avLst>
          </a:prstGeom>
          <a:solidFill>
            <a:srgbClr val="FFFFFF"/>
          </a:solidFill>
          <a:ln w="12700">
            <a:solidFill>
              <a:srgbClr val="C5D2D4"/>
            </a:solidFill>
            <a:prstDash val="solid"/>
          </a:ln>
        </p:spPr>
      </p:sp>
      <p:sp>
        <p:nvSpPr>
          <p:cNvPr id="14" name="Shape 12"/>
          <p:cNvSpPr/>
          <p:nvPr/>
        </p:nvSpPr>
        <p:spPr>
          <a:xfrm>
            <a:off x="8046720" y="1188720"/>
            <a:ext cx="73152" cy="3108960"/>
          </a:xfrm>
          <a:prstGeom prst="rect">
            <a:avLst/>
          </a:prstGeom>
          <a:solidFill>
            <a:srgbClr val="9A7B3C"/>
          </a:solidFill>
          <a:ln/>
        </p:spPr>
      </p:sp>
      <p:sp>
        <p:nvSpPr>
          <p:cNvPr id="15" name="Text 13"/>
          <p:cNvSpPr/>
          <p:nvPr/>
        </p:nvSpPr>
        <p:spPr>
          <a:xfrm>
            <a:off x="8247888" y="1316736"/>
            <a:ext cx="333756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Layer 3 · インフラ</a:t>
            </a:r>
            <a:endParaRPr lang="en-US" sz="1200" dirty="0"/>
          </a:p>
        </p:txBody>
      </p:sp>
      <p:sp>
        <p:nvSpPr>
          <p:cNvPr id="16" name="Text 14"/>
          <p:cNvSpPr/>
          <p:nvPr/>
        </p:nvSpPr>
        <p:spPr>
          <a:xfrm>
            <a:off x="8247888" y="1572768"/>
            <a:ext cx="3337560" cy="260604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資産ドシエ（例: コロラド川水道橋）:</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延長 · ポンプ場 · 標高差</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消費電力 · 建設年 · 維持の文脈</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写真 · 動画 · Street View</a:t>
            </a:r>
            <a:endParaRPr lang="en-US" sz="1100" dirty="0"/>
          </a:p>
          <a:p>
            <a:pPr indent="0" marL="0">
              <a:buNone/>
            </a:pP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インフラを第一級の地理オブジェクトにする。</a:t>
            </a:r>
            <a:endParaRPr lang="en-US" sz="1100" dirty="0"/>
          </a:p>
        </p:txBody>
      </p:sp>
      <p:sp>
        <p:nvSpPr>
          <p:cNvPr id="17" name="Shape 15"/>
          <p:cNvSpPr/>
          <p:nvPr/>
        </p:nvSpPr>
        <p:spPr>
          <a:xfrm>
            <a:off x="0" y="4828032"/>
            <a:ext cx="12191695" cy="201168"/>
          </a:xfrm>
          <a:prstGeom prst="rect">
            <a:avLst/>
          </a:prstGeom>
          <a:solidFill>
            <a:srgbClr val="0B1F33"/>
          </a:solidFill>
          <a:ln/>
        </p:spPr>
      </p:sp>
      <p:sp>
        <p:nvSpPr>
          <p:cNvPr id="18" name="Text 16"/>
          <p:cNvSpPr/>
          <p:nvPr/>
        </p:nvSpPr>
        <p:spPr>
          <a:xfrm>
            <a:off x="365760" y="4846320"/>
            <a:ext cx="5486400" cy="164592"/>
          </a:xfrm>
          <a:prstGeom prst="rect">
            <a:avLst/>
          </a:prstGeom>
          <a:noFill/>
          <a:ln/>
        </p:spPr>
        <p:txBody>
          <a:bodyPr wrap="square" lIns="0" tIns="0" rIns="0" bIns="0" rtlCol="0" anchor="ctr"/>
          <a:lstStyle/>
          <a:p>
            <a:pPr indent="0" marL="0">
              <a:buNone/>
            </a:pPr>
            <a:r>
              <a:rPr lang="en-US" sz="800" b="1" dirty="0">
                <a:solidFill>
                  <a:srgbClr val="E8F2F3"/>
                </a:solidFill>
                <a:latin typeface="Arial" pitchFamily="34" charset="0"/>
                <a:ea typeface="Arial" pitchFamily="34" charset="-122"/>
                <a:cs typeface="Arial" pitchFamily="34" charset="-120"/>
              </a:rPr>
              <a:t>LA WATER SECURITY ATLAS</a:t>
            </a:r>
            <a:endParaRPr lang="en-US" sz="800" dirty="0"/>
          </a:p>
        </p:txBody>
      </p:sp>
      <p:sp>
        <p:nvSpPr>
          <p:cNvPr id="19" name="Text 17"/>
          <p:cNvSpPr/>
          <p:nvPr/>
        </p:nvSpPr>
        <p:spPr>
          <a:xfrm>
            <a:off x="7498080" y="4846320"/>
            <a:ext cx="4297680" cy="164592"/>
          </a:xfrm>
          <a:prstGeom prst="rect">
            <a:avLst/>
          </a:prstGeom>
          <a:noFill/>
          <a:ln/>
        </p:spPr>
        <p:txBody>
          <a:bodyPr wrap="square" lIns="0" tIns="0" rIns="0" bIns="0" rtlCol="0" anchor="ctr"/>
          <a:lstStyle/>
          <a:p>
            <a:pPr algn="r" indent="0" marL="0">
              <a:buNone/>
            </a:pPr>
            <a:r>
              <a:rPr lang="en-US" sz="800" dirty="0">
                <a:solidFill>
                  <a:srgbClr val="E8F2F3"/>
                </a:solidFill>
                <a:latin typeface="Arial" pitchFamily="34" charset="0"/>
                <a:ea typeface="Arial" pitchFamily="34" charset="-122"/>
                <a:cs typeface="Arial" pitchFamily="34" charset="-120"/>
              </a:rPr>
              <a:t>野澤カイ  ·  7 / 15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029200"/>
          </a:xfrm>
          <a:prstGeom prst="rect">
            <a:avLst/>
          </a:prstGeom>
          <a:solidFill>
            <a:srgbClr val="F4F6F5"/>
          </a:solidFill>
          <a:ln/>
        </p:spPr>
      </p:sp>
      <p:sp>
        <p:nvSpPr>
          <p:cNvPr id="3" name="Text 1"/>
          <p:cNvSpPr/>
          <p:nvPr/>
        </p:nvSpPr>
        <p:spPr>
          <a:xfrm>
            <a:off x="457200" y="256032"/>
            <a:ext cx="11247120" cy="256032"/>
          </a:xfrm>
          <a:prstGeom prst="rect">
            <a:avLst/>
          </a:prstGeom>
          <a:noFill/>
          <a:ln/>
        </p:spPr>
        <p:txBody>
          <a:bodyPr wrap="square" lIns="0" tIns="0" rIns="0" bIns="0" rtlCol="0" anchor="ctr"/>
          <a:lstStyle/>
          <a:p>
            <a:pPr indent="0" marL="0">
              <a:buNone/>
            </a:pPr>
            <a:r>
              <a:rPr lang="en-US" sz="1100" b="1" spc="200" kern="0" dirty="0">
                <a:solidFill>
                  <a:srgbClr val="0E5F6B"/>
                </a:solidFill>
                <a:latin typeface="Arial" pitchFamily="34" charset="0"/>
                <a:ea typeface="Arial" pitchFamily="34" charset="-122"/>
                <a:cs typeface="Arial" pitchFamily="34" charset="-120"/>
              </a:rPr>
              <a:t>レイヤー 4–7</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400" b="1" dirty="0">
                <a:solidFill>
                  <a:srgbClr val="0B1F33"/>
                </a:solidFill>
                <a:latin typeface="Arial" pitchFamily="34" charset="0"/>
                <a:ea typeface="Arial" pitchFamily="34" charset="-122"/>
                <a:cs typeface="Arial" pitchFamily="34" charset="-120"/>
              </a:rPr>
              <a:t>気候 · 旱魃 · 人口 · エネルギー</a:t>
            </a:r>
            <a:endParaRPr lang="en-US" sz="2400" dirty="0"/>
          </a:p>
        </p:txBody>
      </p:sp>
      <p:sp>
        <p:nvSpPr>
          <p:cNvPr id="5" name="Shape 3"/>
          <p:cNvSpPr/>
          <p:nvPr/>
        </p:nvSpPr>
        <p:spPr>
          <a:xfrm>
            <a:off x="457200" y="1188720"/>
            <a:ext cx="5623560" cy="1417320"/>
          </a:xfrm>
          <a:prstGeom prst="roundRect">
            <a:avLst>
              <a:gd name="adj" fmla="val 3871"/>
            </a:avLst>
          </a:prstGeom>
          <a:solidFill>
            <a:srgbClr val="FFFFFF"/>
          </a:solidFill>
          <a:ln w="12700">
            <a:solidFill>
              <a:srgbClr val="C5D2D4"/>
            </a:solidFill>
            <a:prstDash val="solid"/>
          </a:ln>
        </p:spPr>
      </p:sp>
      <p:sp>
        <p:nvSpPr>
          <p:cNvPr id="6" name="Shape 4"/>
          <p:cNvSpPr/>
          <p:nvPr/>
        </p:nvSpPr>
        <p:spPr>
          <a:xfrm>
            <a:off x="457200" y="1188720"/>
            <a:ext cx="73152" cy="1417320"/>
          </a:xfrm>
          <a:prstGeom prst="rect">
            <a:avLst/>
          </a:prstGeom>
          <a:solidFill>
            <a:srgbClr val="0E5F6B"/>
          </a:solidFill>
          <a:ln/>
        </p:spPr>
      </p:sp>
      <p:sp>
        <p:nvSpPr>
          <p:cNvPr id="7" name="Text 5"/>
          <p:cNvSpPr/>
          <p:nvPr/>
        </p:nvSpPr>
        <p:spPr>
          <a:xfrm>
            <a:off x="658368" y="1316736"/>
            <a:ext cx="530352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Layer 4 · 気候</a:t>
            </a:r>
            <a:endParaRPr lang="en-US" sz="1200" dirty="0"/>
          </a:p>
        </p:txBody>
      </p:sp>
      <p:sp>
        <p:nvSpPr>
          <p:cNvPr id="8" name="Text 6"/>
          <p:cNvSpPr/>
          <p:nvPr/>
        </p:nvSpPr>
        <p:spPr>
          <a:xfrm>
            <a:off x="658368" y="1572768"/>
            <a:ext cx="5303520" cy="91440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積雪量の時系列（1980〜現在）と貯水との関係 — 気候シグナルを空間化する。</a:t>
            </a:r>
            <a:endParaRPr lang="en-US" sz="1100" dirty="0"/>
          </a:p>
        </p:txBody>
      </p:sp>
      <p:sp>
        <p:nvSpPr>
          <p:cNvPr id="9" name="Shape 7"/>
          <p:cNvSpPr/>
          <p:nvPr/>
        </p:nvSpPr>
        <p:spPr>
          <a:xfrm>
            <a:off x="6309360" y="1188720"/>
            <a:ext cx="5623560" cy="1417320"/>
          </a:xfrm>
          <a:prstGeom prst="roundRect">
            <a:avLst>
              <a:gd name="adj" fmla="val 3871"/>
            </a:avLst>
          </a:prstGeom>
          <a:solidFill>
            <a:srgbClr val="FFFFFF"/>
          </a:solidFill>
          <a:ln w="12700">
            <a:solidFill>
              <a:srgbClr val="C5D2D4"/>
            </a:solidFill>
            <a:prstDash val="solid"/>
          </a:ln>
        </p:spPr>
      </p:sp>
      <p:sp>
        <p:nvSpPr>
          <p:cNvPr id="10" name="Shape 8"/>
          <p:cNvSpPr/>
          <p:nvPr/>
        </p:nvSpPr>
        <p:spPr>
          <a:xfrm>
            <a:off x="6309360" y="1188720"/>
            <a:ext cx="73152" cy="1417320"/>
          </a:xfrm>
          <a:prstGeom prst="rect">
            <a:avLst/>
          </a:prstGeom>
          <a:solidFill>
            <a:srgbClr val="0E5F6B"/>
          </a:solidFill>
          <a:ln/>
        </p:spPr>
      </p:sp>
      <p:sp>
        <p:nvSpPr>
          <p:cNvPr id="11" name="Text 9"/>
          <p:cNvSpPr/>
          <p:nvPr/>
        </p:nvSpPr>
        <p:spPr>
          <a:xfrm>
            <a:off x="6510528" y="1316736"/>
            <a:ext cx="530352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Layer 5 · 旱魃</a:t>
            </a:r>
            <a:endParaRPr lang="en-US" sz="1200" dirty="0"/>
          </a:p>
        </p:txBody>
      </p:sp>
      <p:sp>
        <p:nvSpPr>
          <p:cNvPr id="12" name="Text 10"/>
          <p:cNvSpPr/>
          <p:nvPr/>
        </p:nvSpPr>
        <p:spPr>
          <a:xfrm>
            <a:off x="6510528" y="1572768"/>
            <a:ext cx="5303520" cy="91440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2012 → 2015 → 2022 → 2035。単年ではなく、歴史と将来のストレスとして。</a:t>
            </a:r>
            <a:endParaRPr lang="en-US" sz="1100" dirty="0"/>
          </a:p>
        </p:txBody>
      </p:sp>
      <p:sp>
        <p:nvSpPr>
          <p:cNvPr id="13" name="Shape 11"/>
          <p:cNvSpPr/>
          <p:nvPr/>
        </p:nvSpPr>
        <p:spPr>
          <a:xfrm>
            <a:off x="457200" y="2743200"/>
            <a:ext cx="5623560" cy="1417320"/>
          </a:xfrm>
          <a:prstGeom prst="roundRect">
            <a:avLst>
              <a:gd name="adj" fmla="val 3871"/>
            </a:avLst>
          </a:prstGeom>
          <a:solidFill>
            <a:srgbClr val="FFFFFF"/>
          </a:solidFill>
          <a:ln w="12700">
            <a:solidFill>
              <a:srgbClr val="C5D2D4"/>
            </a:solidFill>
            <a:prstDash val="solid"/>
          </a:ln>
        </p:spPr>
      </p:sp>
      <p:sp>
        <p:nvSpPr>
          <p:cNvPr id="14" name="Shape 12"/>
          <p:cNvSpPr/>
          <p:nvPr/>
        </p:nvSpPr>
        <p:spPr>
          <a:xfrm>
            <a:off x="457200" y="2743200"/>
            <a:ext cx="73152" cy="1417320"/>
          </a:xfrm>
          <a:prstGeom prst="rect">
            <a:avLst/>
          </a:prstGeom>
          <a:solidFill>
            <a:srgbClr val="A85A3A"/>
          </a:solidFill>
          <a:ln/>
        </p:spPr>
      </p:sp>
      <p:sp>
        <p:nvSpPr>
          <p:cNvPr id="15" name="Text 13"/>
          <p:cNvSpPr/>
          <p:nvPr/>
        </p:nvSpPr>
        <p:spPr>
          <a:xfrm>
            <a:off x="658368" y="2871216"/>
            <a:ext cx="530352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Layer 6 · 人口</a:t>
            </a:r>
            <a:endParaRPr lang="en-US" sz="1200" dirty="0"/>
          </a:p>
        </p:txBody>
      </p:sp>
      <p:sp>
        <p:nvSpPr>
          <p:cNvPr id="16" name="Text 14"/>
          <p:cNvSpPr/>
          <p:nvPr/>
        </p:nvSpPr>
        <p:spPr>
          <a:xfrm>
            <a:off x="658368" y="3127248"/>
            <a:ext cx="5303520" cy="91440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需要オーバーレイ: 人口増 → 水需要増 → 不足圧力。人口と供給地理を結合。</a:t>
            </a:r>
            <a:endParaRPr lang="en-US" sz="1100" dirty="0"/>
          </a:p>
        </p:txBody>
      </p:sp>
      <p:sp>
        <p:nvSpPr>
          <p:cNvPr id="17" name="Shape 15"/>
          <p:cNvSpPr/>
          <p:nvPr/>
        </p:nvSpPr>
        <p:spPr>
          <a:xfrm>
            <a:off x="6309360" y="2743200"/>
            <a:ext cx="5623560" cy="1417320"/>
          </a:xfrm>
          <a:prstGeom prst="roundRect">
            <a:avLst>
              <a:gd name="adj" fmla="val 3871"/>
            </a:avLst>
          </a:prstGeom>
          <a:solidFill>
            <a:srgbClr val="FFFFFF"/>
          </a:solidFill>
          <a:ln w="12700">
            <a:solidFill>
              <a:srgbClr val="C5D2D4"/>
            </a:solidFill>
            <a:prstDash val="solid"/>
          </a:ln>
        </p:spPr>
      </p:sp>
      <p:sp>
        <p:nvSpPr>
          <p:cNvPr id="18" name="Shape 16"/>
          <p:cNvSpPr/>
          <p:nvPr/>
        </p:nvSpPr>
        <p:spPr>
          <a:xfrm>
            <a:off x="6309360" y="2743200"/>
            <a:ext cx="73152" cy="1417320"/>
          </a:xfrm>
          <a:prstGeom prst="rect">
            <a:avLst/>
          </a:prstGeom>
          <a:solidFill>
            <a:srgbClr val="A85A3A"/>
          </a:solidFill>
          <a:ln/>
        </p:spPr>
      </p:sp>
      <p:sp>
        <p:nvSpPr>
          <p:cNvPr id="19" name="Text 17"/>
          <p:cNvSpPr/>
          <p:nvPr/>
        </p:nvSpPr>
        <p:spPr>
          <a:xfrm>
            <a:off x="6510528" y="2871216"/>
            <a:ext cx="530352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Layer 7 · エネルギー</a:t>
            </a:r>
            <a:endParaRPr lang="en-US" sz="1200" dirty="0"/>
          </a:p>
        </p:txBody>
      </p:sp>
      <p:sp>
        <p:nvSpPr>
          <p:cNvPr id="20" name="Text 18"/>
          <p:cNvSpPr/>
          <p:nvPr/>
        </p:nvSpPr>
        <p:spPr>
          <a:xfrm>
            <a:off x="6510528" y="3127248"/>
            <a:ext cx="5303520" cy="91440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導水は電力集約的。停電 → 揚水停止 → 供給リスク。水とエネルギー安全保障をつなぐ。</a:t>
            </a:r>
            <a:endParaRPr lang="en-US" sz="1100" dirty="0"/>
          </a:p>
        </p:txBody>
      </p:sp>
      <p:sp>
        <p:nvSpPr>
          <p:cNvPr id="21" name="Shape 19"/>
          <p:cNvSpPr/>
          <p:nvPr/>
        </p:nvSpPr>
        <p:spPr>
          <a:xfrm>
            <a:off x="0" y="4828032"/>
            <a:ext cx="12191695" cy="201168"/>
          </a:xfrm>
          <a:prstGeom prst="rect">
            <a:avLst/>
          </a:prstGeom>
          <a:solidFill>
            <a:srgbClr val="0B1F33"/>
          </a:solidFill>
          <a:ln/>
        </p:spPr>
      </p:sp>
      <p:sp>
        <p:nvSpPr>
          <p:cNvPr id="22" name="Text 20"/>
          <p:cNvSpPr/>
          <p:nvPr/>
        </p:nvSpPr>
        <p:spPr>
          <a:xfrm>
            <a:off x="365760" y="4846320"/>
            <a:ext cx="5486400" cy="164592"/>
          </a:xfrm>
          <a:prstGeom prst="rect">
            <a:avLst/>
          </a:prstGeom>
          <a:noFill/>
          <a:ln/>
        </p:spPr>
        <p:txBody>
          <a:bodyPr wrap="square" lIns="0" tIns="0" rIns="0" bIns="0" rtlCol="0" anchor="ctr"/>
          <a:lstStyle/>
          <a:p>
            <a:pPr indent="0" marL="0">
              <a:buNone/>
            </a:pPr>
            <a:r>
              <a:rPr lang="en-US" sz="800" b="1" dirty="0">
                <a:solidFill>
                  <a:srgbClr val="E8F2F3"/>
                </a:solidFill>
                <a:latin typeface="Arial" pitchFamily="34" charset="0"/>
                <a:ea typeface="Arial" pitchFamily="34" charset="-122"/>
                <a:cs typeface="Arial" pitchFamily="34" charset="-120"/>
              </a:rPr>
              <a:t>LA WATER SECURITY ATLAS</a:t>
            </a:r>
            <a:endParaRPr lang="en-US" sz="800" dirty="0"/>
          </a:p>
        </p:txBody>
      </p:sp>
      <p:sp>
        <p:nvSpPr>
          <p:cNvPr id="23" name="Text 21"/>
          <p:cNvSpPr/>
          <p:nvPr/>
        </p:nvSpPr>
        <p:spPr>
          <a:xfrm>
            <a:off x="7498080" y="4846320"/>
            <a:ext cx="4297680" cy="164592"/>
          </a:xfrm>
          <a:prstGeom prst="rect">
            <a:avLst/>
          </a:prstGeom>
          <a:noFill/>
          <a:ln/>
        </p:spPr>
        <p:txBody>
          <a:bodyPr wrap="square" lIns="0" tIns="0" rIns="0" bIns="0" rtlCol="0" anchor="ctr"/>
          <a:lstStyle/>
          <a:p>
            <a:pPr algn="r" indent="0" marL="0">
              <a:buNone/>
            </a:pPr>
            <a:r>
              <a:rPr lang="en-US" sz="800" dirty="0">
                <a:solidFill>
                  <a:srgbClr val="E8F2F3"/>
                </a:solidFill>
                <a:latin typeface="Arial" pitchFamily="34" charset="0"/>
                <a:ea typeface="Arial" pitchFamily="34" charset="-122"/>
                <a:cs typeface="Arial" pitchFamily="34" charset="-120"/>
              </a:rPr>
              <a:t>野澤カイ  ·  8 / 15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029200"/>
          </a:xfrm>
          <a:prstGeom prst="rect">
            <a:avLst/>
          </a:prstGeom>
          <a:solidFill>
            <a:srgbClr val="F4F6F5"/>
          </a:solidFill>
          <a:ln/>
        </p:spPr>
      </p:sp>
      <p:sp>
        <p:nvSpPr>
          <p:cNvPr id="3" name="Text 1"/>
          <p:cNvSpPr/>
          <p:nvPr/>
        </p:nvSpPr>
        <p:spPr>
          <a:xfrm>
            <a:off x="457200" y="256032"/>
            <a:ext cx="11247120" cy="256032"/>
          </a:xfrm>
          <a:prstGeom prst="rect">
            <a:avLst/>
          </a:prstGeom>
          <a:noFill/>
          <a:ln/>
        </p:spPr>
        <p:txBody>
          <a:bodyPr wrap="square" lIns="0" tIns="0" rIns="0" bIns="0" rtlCol="0" anchor="ctr"/>
          <a:lstStyle/>
          <a:p>
            <a:pPr indent="0" marL="0">
              <a:buNone/>
            </a:pPr>
            <a:r>
              <a:rPr lang="en-US" sz="1100" b="1" spc="200" kern="0" dirty="0">
                <a:solidFill>
                  <a:srgbClr val="0E5F6B"/>
                </a:solidFill>
                <a:latin typeface="Arial" pitchFamily="34" charset="0"/>
                <a:ea typeface="Arial" pitchFamily="34" charset="-122"/>
                <a:cs typeface="Arial" pitchFamily="34" charset="-120"/>
              </a:rPr>
              <a:t>シミュレーション</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400" b="1" dirty="0">
                <a:solidFill>
                  <a:srgbClr val="0B1F33"/>
                </a:solidFill>
                <a:latin typeface="Arial" pitchFamily="34" charset="0"/>
                <a:ea typeface="Arial" pitchFamily="34" charset="-122"/>
                <a:cs typeface="Arial" pitchFamily="34" charset="-120"/>
              </a:rPr>
              <a:t>シナリオ分析 — 将来を比較し、断定しない</a:t>
            </a:r>
            <a:endParaRPr lang="en-US" sz="2400" dirty="0"/>
          </a:p>
        </p:txBody>
      </p:sp>
      <p:sp>
        <p:nvSpPr>
          <p:cNvPr id="5" name="Text 3"/>
          <p:cNvSpPr/>
          <p:nvPr/>
        </p:nvSpPr>
        <p:spPr>
          <a:xfrm>
            <a:off x="457200" y="1097280"/>
            <a:ext cx="11247120" cy="365760"/>
          </a:xfrm>
          <a:prstGeom prst="rect">
            <a:avLst/>
          </a:prstGeom>
          <a:noFill/>
          <a:ln/>
        </p:spPr>
        <p:txBody>
          <a:bodyPr wrap="square" lIns="0" tIns="0" rIns="0" bIns="0" rtlCol="0" anchor="ctr"/>
          <a:lstStyle/>
          <a:p>
            <a:pPr indent="0" marL="0">
              <a:buNone/>
            </a:pPr>
            <a:r>
              <a:rPr lang="en-US" sz="1300" dirty="0">
                <a:solidFill>
                  <a:srgbClr val="5A6B73"/>
                </a:solidFill>
                <a:latin typeface="Arial" pitchFamily="34" charset="0"/>
                <a:ea typeface="Arial" pitchFamily="34" charset="-122"/>
                <a:cs typeface="Arial" pitchFamily="34" charset="-120"/>
              </a:rPr>
              <a:t>気候・人口・政策は不確実。研究と政策分析は「もし〜なら」の比較に依る。単一点予測ではない。</a:t>
            </a:r>
            <a:endParaRPr lang="en-US" sz="1300" dirty="0"/>
          </a:p>
        </p:txBody>
      </p:sp>
      <p:sp>
        <p:nvSpPr>
          <p:cNvPr id="6" name="Shape 4"/>
          <p:cNvSpPr/>
          <p:nvPr/>
        </p:nvSpPr>
        <p:spPr>
          <a:xfrm>
            <a:off x="457200" y="1600200"/>
            <a:ext cx="5623560" cy="2606040"/>
          </a:xfrm>
          <a:prstGeom prst="roundRect">
            <a:avLst>
              <a:gd name="adj" fmla="val 2105"/>
            </a:avLst>
          </a:prstGeom>
          <a:solidFill>
            <a:srgbClr val="FFFFFF"/>
          </a:solidFill>
          <a:ln w="12700">
            <a:solidFill>
              <a:srgbClr val="C5D2D4"/>
            </a:solidFill>
            <a:prstDash val="solid"/>
          </a:ln>
        </p:spPr>
      </p:sp>
      <p:sp>
        <p:nvSpPr>
          <p:cNvPr id="7" name="Shape 5"/>
          <p:cNvSpPr/>
          <p:nvPr/>
        </p:nvSpPr>
        <p:spPr>
          <a:xfrm>
            <a:off x="457200" y="1600200"/>
            <a:ext cx="73152" cy="2606040"/>
          </a:xfrm>
          <a:prstGeom prst="rect">
            <a:avLst/>
          </a:prstGeom>
          <a:solidFill>
            <a:srgbClr val="0E5F6B"/>
          </a:solidFill>
          <a:ln/>
        </p:spPr>
      </p:sp>
      <p:sp>
        <p:nvSpPr>
          <p:cNvPr id="8" name="Text 6"/>
          <p:cNvSpPr/>
          <p:nvPr/>
        </p:nvSpPr>
        <p:spPr>
          <a:xfrm>
            <a:off x="658368" y="1728216"/>
            <a:ext cx="530352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ストレス・シミュレーション</a:t>
            </a:r>
            <a:endParaRPr lang="en-US" sz="1200" dirty="0"/>
          </a:p>
        </p:txBody>
      </p:sp>
      <p:sp>
        <p:nvSpPr>
          <p:cNvPr id="9" name="Text 7"/>
          <p:cNvSpPr/>
          <p:nvPr/>
        </p:nvSpPr>
        <p:spPr>
          <a:xfrm>
            <a:off x="658368" y="1984248"/>
            <a:ext cx="5303520" cy="210312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スライダー例:</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積雪 100% → 70% → 40% → 20%</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コロラド川 −20%</a:t>
            </a:r>
            <a:endParaRPr lang="en-US" sz="1100" dirty="0"/>
          </a:p>
          <a:p>
            <a:pPr indent="0" marL="0">
              <a:buNone/>
            </a:pP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貯水・供給・農業・住宅・電力への影響を地図で更新し、連鎖する空間効果を見せる。</a:t>
            </a:r>
            <a:endParaRPr lang="en-US" sz="1100" dirty="0"/>
          </a:p>
        </p:txBody>
      </p:sp>
      <p:sp>
        <p:nvSpPr>
          <p:cNvPr id="10" name="Shape 8"/>
          <p:cNvSpPr/>
          <p:nvPr/>
        </p:nvSpPr>
        <p:spPr>
          <a:xfrm>
            <a:off x="6263640" y="1600200"/>
            <a:ext cx="5440680" cy="2606040"/>
          </a:xfrm>
          <a:prstGeom prst="roundRect">
            <a:avLst>
              <a:gd name="adj" fmla="val 2105"/>
            </a:avLst>
          </a:prstGeom>
          <a:solidFill>
            <a:srgbClr val="FFFFFF"/>
          </a:solidFill>
          <a:ln w="12700">
            <a:solidFill>
              <a:srgbClr val="C5D2D4"/>
            </a:solidFill>
            <a:prstDash val="solid"/>
          </a:ln>
        </p:spPr>
      </p:sp>
      <p:sp>
        <p:nvSpPr>
          <p:cNvPr id="11" name="Shape 9"/>
          <p:cNvSpPr/>
          <p:nvPr/>
        </p:nvSpPr>
        <p:spPr>
          <a:xfrm>
            <a:off x="6263640" y="1600200"/>
            <a:ext cx="73152" cy="2606040"/>
          </a:xfrm>
          <a:prstGeom prst="rect">
            <a:avLst/>
          </a:prstGeom>
          <a:solidFill>
            <a:srgbClr val="9A7B3C"/>
          </a:solidFill>
          <a:ln/>
        </p:spPr>
      </p:sp>
      <p:sp>
        <p:nvSpPr>
          <p:cNvPr id="12" name="Text 10"/>
          <p:cNvSpPr/>
          <p:nvPr/>
        </p:nvSpPr>
        <p:spPr>
          <a:xfrm>
            <a:off x="6464808" y="1728216"/>
            <a:ext cx="512064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政策シミュレータ（2035）</a:t>
            </a:r>
            <a:endParaRPr lang="en-US" sz="1200" dirty="0"/>
          </a:p>
        </p:txBody>
      </p:sp>
      <p:sp>
        <p:nvSpPr>
          <p:cNvPr id="13" name="Text 11"/>
          <p:cNvSpPr/>
          <p:nvPr/>
        </p:nvSpPr>
        <p:spPr>
          <a:xfrm>
            <a:off x="6464808" y="1984248"/>
            <a:ext cx="5120640" cy="210312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例: 人口 +15%。</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比較ポートフォリオ:</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必要水量 vs 不足量</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再生水 +30%</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海水淡水化</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地下水回復</a:t>
            </a:r>
            <a:endParaRPr lang="en-US" sz="1100" dirty="0"/>
          </a:p>
          <a:p>
            <a:pPr indent="0" marL="0">
              <a:buNone/>
            </a:pP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共通仮定の下でトレードオフを透明にする。</a:t>
            </a:r>
            <a:endParaRPr lang="en-US" sz="1100" dirty="0"/>
          </a:p>
        </p:txBody>
      </p:sp>
      <p:sp>
        <p:nvSpPr>
          <p:cNvPr id="14" name="Shape 12"/>
          <p:cNvSpPr/>
          <p:nvPr/>
        </p:nvSpPr>
        <p:spPr>
          <a:xfrm>
            <a:off x="0" y="4828032"/>
            <a:ext cx="12191695" cy="201168"/>
          </a:xfrm>
          <a:prstGeom prst="rect">
            <a:avLst/>
          </a:prstGeom>
          <a:solidFill>
            <a:srgbClr val="0B1F33"/>
          </a:solidFill>
          <a:ln/>
        </p:spPr>
      </p:sp>
      <p:sp>
        <p:nvSpPr>
          <p:cNvPr id="15" name="Text 13"/>
          <p:cNvSpPr/>
          <p:nvPr/>
        </p:nvSpPr>
        <p:spPr>
          <a:xfrm>
            <a:off x="365760" y="4846320"/>
            <a:ext cx="5486400" cy="164592"/>
          </a:xfrm>
          <a:prstGeom prst="rect">
            <a:avLst/>
          </a:prstGeom>
          <a:noFill/>
          <a:ln/>
        </p:spPr>
        <p:txBody>
          <a:bodyPr wrap="square" lIns="0" tIns="0" rIns="0" bIns="0" rtlCol="0" anchor="ctr"/>
          <a:lstStyle/>
          <a:p>
            <a:pPr indent="0" marL="0">
              <a:buNone/>
            </a:pPr>
            <a:r>
              <a:rPr lang="en-US" sz="800" b="1" dirty="0">
                <a:solidFill>
                  <a:srgbClr val="E8F2F3"/>
                </a:solidFill>
                <a:latin typeface="Arial" pitchFamily="34" charset="0"/>
                <a:ea typeface="Arial" pitchFamily="34" charset="-122"/>
                <a:cs typeface="Arial" pitchFamily="34" charset="-120"/>
              </a:rPr>
              <a:t>LA WATER SECURITY ATLAS</a:t>
            </a:r>
            <a:endParaRPr lang="en-US" sz="800" dirty="0"/>
          </a:p>
        </p:txBody>
      </p:sp>
      <p:sp>
        <p:nvSpPr>
          <p:cNvPr id="16" name="Text 14"/>
          <p:cNvSpPr/>
          <p:nvPr/>
        </p:nvSpPr>
        <p:spPr>
          <a:xfrm>
            <a:off x="7498080" y="4846320"/>
            <a:ext cx="4297680" cy="164592"/>
          </a:xfrm>
          <a:prstGeom prst="rect">
            <a:avLst/>
          </a:prstGeom>
          <a:noFill/>
          <a:ln/>
        </p:spPr>
        <p:txBody>
          <a:bodyPr wrap="square" lIns="0" tIns="0" rIns="0" bIns="0" rtlCol="0" anchor="ctr"/>
          <a:lstStyle/>
          <a:p>
            <a:pPr algn="r" indent="0" marL="0">
              <a:buNone/>
            </a:pPr>
            <a:r>
              <a:rPr lang="en-US" sz="800" dirty="0">
                <a:solidFill>
                  <a:srgbClr val="E8F2F3"/>
                </a:solidFill>
                <a:latin typeface="Arial" pitchFamily="34" charset="0"/>
                <a:ea typeface="Arial" pitchFamily="34" charset="-122"/>
                <a:cs typeface="Arial" pitchFamily="34" charset="-120"/>
              </a:rPr>
              <a:t>野澤カイ  ·  9 / 15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5029200"/>
          </a:xfrm>
          <a:prstGeom prst="rect">
            <a:avLst/>
          </a:prstGeom>
          <a:solidFill>
            <a:srgbClr val="F4F6F5"/>
          </a:solidFill>
          <a:ln/>
        </p:spPr>
      </p:sp>
      <p:sp>
        <p:nvSpPr>
          <p:cNvPr id="3" name="Text 1"/>
          <p:cNvSpPr/>
          <p:nvPr/>
        </p:nvSpPr>
        <p:spPr>
          <a:xfrm>
            <a:off x="457200" y="256032"/>
            <a:ext cx="11247120" cy="256032"/>
          </a:xfrm>
          <a:prstGeom prst="rect">
            <a:avLst/>
          </a:prstGeom>
          <a:noFill/>
          <a:ln/>
        </p:spPr>
        <p:txBody>
          <a:bodyPr wrap="square" lIns="0" tIns="0" rIns="0" bIns="0" rtlCol="0" anchor="ctr"/>
          <a:lstStyle/>
          <a:p>
            <a:pPr indent="0" marL="0">
              <a:buNone/>
            </a:pPr>
            <a:r>
              <a:rPr lang="en-US" sz="1100" b="1" spc="200" kern="0" dirty="0">
                <a:solidFill>
                  <a:srgbClr val="0E5F6B"/>
                </a:solidFill>
                <a:latin typeface="Arial" pitchFamily="34" charset="0"/>
                <a:ea typeface="Arial" pitchFamily="34" charset="-122"/>
                <a:cs typeface="Arial" pitchFamily="34" charset="-120"/>
              </a:rPr>
              <a:t>学術的深さ</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400" b="1" dirty="0">
                <a:solidFill>
                  <a:srgbClr val="0B1F33"/>
                </a:solidFill>
                <a:latin typeface="Arial" pitchFamily="34" charset="0"/>
                <a:ea typeface="Arial" pitchFamily="34" charset="-122"/>
                <a:cs typeface="Arial" pitchFamily="34" charset="-120"/>
              </a:rPr>
              <a:t>GIS作品から研究プラットフォームへ — Why に答える</a:t>
            </a:r>
            <a:endParaRPr lang="en-US" sz="2400" dirty="0"/>
          </a:p>
        </p:txBody>
      </p:sp>
      <p:sp>
        <p:nvSpPr>
          <p:cNvPr id="5" name="Shape 3"/>
          <p:cNvSpPr/>
          <p:nvPr/>
        </p:nvSpPr>
        <p:spPr>
          <a:xfrm>
            <a:off x="457200" y="1188720"/>
            <a:ext cx="11247120" cy="914400"/>
          </a:xfrm>
          <a:prstGeom prst="roundRect">
            <a:avLst>
              <a:gd name="adj" fmla="val 6000"/>
            </a:avLst>
          </a:prstGeom>
          <a:solidFill>
            <a:srgbClr val="0B1F33"/>
          </a:solidFill>
          <a:ln/>
        </p:spPr>
      </p:sp>
      <p:sp>
        <p:nvSpPr>
          <p:cNvPr id="6" name="Text 4"/>
          <p:cNvSpPr/>
          <p:nvPr/>
        </p:nvSpPr>
        <p:spPr>
          <a:xfrm>
            <a:off x="685800" y="1371600"/>
            <a:ext cx="10789920" cy="54864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Berkeley / UCLA Geography が評価するのは地図技術だけでなく、構造・権力・歴史・制度を説明できるかである。</a:t>
            </a:r>
            <a:endParaRPr lang="en-US" sz="1400" dirty="0"/>
          </a:p>
        </p:txBody>
      </p:sp>
      <p:sp>
        <p:nvSpPr>
          <p:cNvPr id="7" name="Shape 5"/>
          <p:cNvSpPr/>
          <p:nvPr/>
        </p:nvSpPr>
        <p:spPr>
          <a:xfrm>
            <a:off x="457200" y="2331720"/>
            <a:ext cx="2788920" cy="1920240"/>
          </a:xfrm>
          <a:prstGeom prst="roundRect">
            <a:avLst>
              <a:gd name="adj" fmla="val 2857"/>
            </a:avLst>
          </a:prstGeom>
          <a:solidFill>
            <a:srgbClr val="FFFFFF"/>
          </a:solidFill>
          <a:ln w="12700">
            <a:solidFill>
              <a:srgbClr val="C5D2D4"/>
            </a:solidFill>
            <a:prstDash val="solid"/>
          </a:ln>
        </p:spPr>
      </p:sp>
      <p:sp>
        <p:nvSpPr>
          <p:cNvPr id="8" name="Shape 6"/>
          <p:cNvSpPr/>
          <p:nvPr/>
        </p:nvSpPr>
        <p:spPr>
          <a:xfrm>
            <a:off x="457200" y="2331720"/>
            <a:ext cx="73152" cy="1920240"/>
          </a:xfrm>
          <a:prstGeom prst="rect">
            <a:avLst/>
          </a:prstGeom>
          <a:solidFill>
            <a:srgbClr val="2A8F9E"/>
          </a:solidFill>
          <a:ln/>
        </p:spPr>
      </p:sp>
      <p:sp>
        <p:nvSpPr>
          <p:cNvPr id="9" name="Text 7"/>
          <p:cNvSpPr/>
          <p:nvPr/>
        </p:nvSpPr>
        <p:spPr>
          <a:xfrm>
            <a:off x="658368" y="2459736"/>
            <a:ext cx="246888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歴史</a:t>
            </a:r>
            <a:endParaRPr lang="en-US" sz="1200" dirty="0"/>
          </a:p>
        </p:txBody>
      </p:sp>
      <p:sp>
        <p:nvSpPr>
          <p:cNvPr id="10" name="Text 8"/>
          <p:cNvSpPr/>
          <p:nvPr/>
        </p:nvSpPr>
        <p:spPr>
          <a:xfrm>
            <a:off x="658368" y="2715768"/>
            <a:ext cx="2468880" cy="141732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オーウェンズ・コロラド・SWPの回廊が、いかに都市生活に組み込まれたか</a:t>
            </a:r>
            <a:endParaRPr lang="en-US" sz="1100" dirty="0"/>
          </a:p>
        </p:txBody>
      </p:sp>
      <p:sp>
        <p:nvSpPr>
          <p:cNvPr id="11" name="Shape 9"/>
          <p:cNvSpPr/>
          <p:nvPr/>
        </p:nvSpPr>
        <p:spPr>
          <a:xfrm>
            <a:off x="3383280" y="2331720"/>
            <a:ext cx="2788920" cy="1920240"/>
          </a:xfrm>
          <a:prstGeom prst="roundRect">
            <a:avLst>
              <a:gd name="adj" fmla="val 2857"/>
            </a:avLst>
          </a:prstGeom>
          <a:solidFill>
            <a:srgbClr val="FFFFFF"/>
          </a:solidFill>
          <a:ln w="12700">
            <a:solidFill>
              <a:srgbClr val="C5D2D4"/>
            </a:solidFill>
            <a:prstDash val="solid"/>
          </a:ln>
        </p:spPr>
      </p:sp>
      <p:sp>
        <p:nvSpPr>
          <p:cNvPr id="12" name="Shape 10"/>
          <p:cNvSpPr/>
          <p:nvPr/>
        </p:nvSpPr>
        <p:spPr>
          <a:xfrm>
            <a:off x="3383280" y="2331720"/>
            <a:ext cx="73152" cy="1920240"/>
          </a:xfrm>
          <a:prstGeom prst="rect">
            <a:avLst/>
          </a:prstGeom>
          <a:solidFill>
            <a:srgbClr val="2A8F9E"/>
          </a:solidFill>
          <a:ln/>
        </p:spPr>
      </p:sp>
      <p:sp>
        <p:nvSpPr>
          <p:cNvPr id="13" name="Text 11"/>
          <p:cNvSpPr/>
          <p:nvPr/>
        </p:nvSpPr>
        <p:spPr>
          <a:xfrm>
            <a:off x="3584448" y="2459736"/>
            <a:ext cx="246888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政策・法</a:t>
            </a:r>
            <a:endParaRPr lang="en-US" sz="1200" dirty="0"/>
          </a:p>
        </p:txBody>
      </p:sp>
      <p:sp>
        <p:nvSpPr>
          <p:cNvPr id="14" name="Text 12"/>
          <p:cNvSpPr/>
          <p:nvPr/>
        </p:nvSpPr>
        <p:spPr>
          <a:xfrm>
            <a:off x="3584448" y="2715768"/>
            <a:ext cx="2468880" cy="141732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協定、裁判制約、地域合意、卸供給機関（MWD、LADWP、DWR）</a:t>
            </a:r>
            <a:endParaRPr lang="en-US" sz="1100" dirty="0"/>
          </a:p>
        </p:txBody>
      </p:sp>
      <p:sp>
        <p:nvSpPr>
          <p:cNvPr id="15" name="Shape 13"/>
          <p:cNvSpPr/>
          <p:nvPr/>
        </p:nvSpPr>
        <p:spPr>
          <a:xfrm>
            <a:off x="6309360" y="2331720"/>
            <a:ext cx="2788920" cy="1920240"/>
          </a:xfrm>
          <a:prstGeom prst="roundRect">
            <a:avLst>
              <a:gd name="adj" fmla="val 2857"/>
            </a:avLst>
          </a:prstGeom>
          <a:solidFill>
            <a:srgbClr val="FFFFFF"/>
          </a:solidFill>
          <a:ln w="12700">
            <a:solidFill>
              <a:srgbClr val="C5D2D4"/>
            </a:solidFill>
            <a:prstDash val="solid"/>
          </a:ln>
        </p:spPr>
      </p:sp>
      <p:sp>
        <p:nvSpPr>
          <p:cNvPr id="16" name="Shape 14"/>
          <p:cNvSpPr/>
          <p:nvPr/>
        </p:nvSpPr>
        <p:spPr>
          <a:xfrm>
            <a:off x="6309360" y="2331720"/>
            <a:ext cx="73152" cy="1920240"/>
          </a:xfrm>
          <a:prstGeom prst="rect">
            <a:avLst/>
          </a:prstGeom>
          <a:solidFill>
            <a:srgbClr val="2A8F9E"/>
          </a:solidFill>
          <a:ln/>
        </p:spPr>
      </p:sp>
      <p:sp>
        <p:nvSpPr>
          <p:cNvPr id="17" name="Text 15"/>
          <p:cNvSpPr/>
          <p:nvPr/>
        </p:nvSpPr>
        <p:spPr>
          <a:xfrm>
            <a:off x="6510528" y="2459736"/>
            <a:ext cx="246888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経済</a:t>
            </a:r>
            <a:endParaRPr lang="en-US" sz="1200" dirty="0"/>
          </a:p>
        </p:txBody>
      </p:sp>
      <p:sp>
        <p:nvSpPr>
          <p:cNvPr id="18" name="Text 16"/>
          <p:cNvSpPr/>
          <p:nvPr/>
        </p:nvSpPr>
        <p:spPr>
          <a:xfrm>
            <a:off x="6510528" y="2715768"/>
            <a:ext cx="2468880" cy="141732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農業、都市成長、需要管理という地理的な力</a:t>
            </a:r>
            <a:endParaRPr lang="en-US" sz="1100" dirty="0"/>
          </a:p>
        </p:txBody>
      </p:sp>
      <p:sp>
        <p:nvSpPr>
          <p:cNvPr id="19" name="Shape 17"/>
          <p:cNvSpPr/>
          <p:nvPr/>
        </p:nvSpPr>
        <p:spPr>
          <a:xfrm>
            <a:off x="9235440" y="2331720"/>
            <a:ext cx="2788920" cy="1920240"/>
          </a:xfrm>
          <a:prstGeom prst="roundRect">
            <a:avLst>
              <a:gd name="adj" fmla="val 2857"/>
            </a:avLst>
          </a:prstGeom>
          <a:solidFill>
            <a:srgbClr val="FFFFFF"/>
          </a:solidFill>
          <a:ln w="12700">
            <a:solidFill>
              <a:srgbClr val="C5D2D4"/>
            </a:solidFill>
            <a:prstDash val="solid"/>
          </a:ln>
        </p:spPr>
      </p:sp>
      <p:sp>
        <p:nvSpPr>
          <p:cNvPr id="20" name="Shape 18"/>
          <p:cNvSpPr/>
          <p:nvPr/>
        </p:nvSpPr>
        <p:spPr>
          <a:xfrm>
            <a:off x="9235440" y="2331720"/>
            <a:ext cx="73152" cy="1920240"/>
          </a:xfrm>
          <a:prstGeom prst="rect">
            <a:avLst/>
          </a:prstGeom>
          <a:solidFill>
            <a:srgbClr val="2A8F9E"/>
          </a:solidFill>
          <a:ln/>
        </p:spPr>
      </p:sp>
      <p:sp>
        <p:nvSpPr>
          <p:cNvPr id="21" name="Text 19"/>
          <p:cNvSpPr/>
          <p:nvPr/>
        </p:nvSpPr>
        <p:spPr>
          <a:xfrm>
            <a:off x="9436608" y="2459736"/>
            <a:ext cx="246888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水–エネルギー連関</a:t>
            </a:r>
            <a:endParaRPr lang="en-US" sz="1200" dirty="0"/>
          </a:p>
        </p:txBody>
      </p:sp>
      <p:sp>
        <p:nvSpPr>
          <p:cNvPr id="22" name="Text 20"/>
          <p:cNvSpPr/>
          <p:nvPr/>
        </p:nvSpPr>
        <p:spPr>
          <a:xfrm>
            <a:off x="9436608" y="2715768"/>
            <a:ext cx="2468880" cy="141732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揚水・ポンプと停電リスクを結合したインフラ安全保障</a:t>
            </a:r>
            <a:endParaRPr lang="en-US" sz="1100" dirty="0"/>
          </a:p>
        </p:txBody>
      </p:sp>
      <p:sp>
        <p:nvSpPr>
          <p:cNvPr id="23" name="Shape 21"/>
          <p:cNvSpPr/>
          <p:nvPr/>
        </p:nvSpPr>
        <p:spPr>
          <a:xfrm>
            <a:off x="0" y="4828032"/>
            <a:ext cx="12191695" cy="201168"/>
          </a:xfrm>
          <a:prstGeom prst="rect">
            <a:avLst/>
          </a:prstGeom>
          <a:solidFill>
            <a:srgbClr val="0B1F33"/>
          </a:solidFill>
          <a:ln/>
        </p:spPr>
      </p:sp>
      <p:sp>
        <p:nvSpPr>
          <p:cNvPr id="24" name="Text 22"/>
          <p:cNvSpPr/>
          <p:nvPr/>
        </p:nvSpPr>
        <p:spPr>
          <a:xfrm>
            <a:off x="365760" y="4846320"/>
            <a:ext cx="5486400" cy="164592"/>
          </a:xfrm>
          <a:prstGeom prst="rect">
            <a:avLst/>
          </a:prstGeom>
          <a:noFill/>
          <a:ln/>
        </p:spPr>
        <p:txBody>
          <a:bodyPr wrap="square" lIns="0" tIns="0" rIns="0" bIns="0" rtlCol="0" anchor="ctr"/>
          <a:lstStyle/>
          <a:p>
            <a:pPr indent="0" marL="0">
              <a:buNone/>
            </a:pPr>
            <a:r>
              <a:rPr lang="en-US" sz="800" b="1" dirty="0">
                <a:solidFill>
                  <a:srgbClr val="E8F2F3"/>
                </a:solidFill>
                <a:latin typeface="Arial" pitchFamily="34" charset="0"/>
                <a:ea typeface="Arial" pitchFamily="34" charset="-122"/>
                <a:cs typeface="Arial" pitchFamily="34" charset="-120"/>
              </a:rPr>
              <a:t>LA WATER SECURITY ATLAS</a:t>
            </a:r>
            <a:endParaRPr lang="en-US" sz="800" dirty="0"/>
          </a:p>
        </p:txBody>
      </p:sp>
      <p:sp>
        <p:nvSpPr>
          <p:cNvPr id="25" name="Text 23"/>
          <p:cNvSpPr/>
          <p:nvPr/>
        </p:nvSpPr>
        <p:spPr>
          <a:xfrm>
            <a:off x="7498080" y="4846320"/>
            <a:ext cx="4297680" cy="164592"/>
          </a:xfrm>
          <a:prstGeom prst="rect">
            <a:avLst/>
          </a:prstGeom>
          <a:noFill/>
          <a:ln/>
        </p:spPr>
        <p:txBody>
          <a:bodyPr wrap="square" lIns="0" tIns="0" rIns="0" bIns="0" rtlCol="0" anchor="ctr"/>
          <a:lstStyle/>
          <a:p>
            <a:pPr algn="r" indent="0" marL="0">
              <a:buNone/>
            </a:pPr>
            <a:r>
              <a:rPr lang="en-US" sz="800" dirty="0">
                <a:solidFill>
                  <a:srgbClr val="E8F2F3"/>
                </a:solidFill>
                <a:latin typeface="Arial" pitchFamily="34" charset="0"/>
                <a:ea typeface="Arial" pitchFamily="34" charset="-122"/>
                <a:cs typeface="Arial" pitchFamily="34" charset="-120"/>
              </a:rPr>
              <a:t>野澤カイ  ·  10 / 15</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5029200"/>
          </a:xfrm>
          <a:prstGeom prst="rect">
            <a:avLst/>
          </a:prstGeom>
          <a:solidFill>
            <a:srgbClr val="F4F6F5"/>
          </a:solidFill>
          <a:ln/>
        </p:spPr>
      </p:sp>
      <p:sp>
        <p:nvSpPr>
          <p:cNvPr id="3" name="Text 1"/>
          <p:cNvSpPr/>
          <p:nvPr/>
        </p:nvSpPr>
        <p:spPr>
          <a:xfrm>
            <a:off x="457200" y="256032"/>
            <a:ext cx="11247120" cy="256032"/>
          </a:xfrm>
          <a:prstGeom prst="rect">
            <a:avLst/>
          </a:prstGeom>
          <a:noFill/>
          <a:ln/>
        </p:spPr>
        <p:txBody>
          <a:bodyPr wrap="square" lIns="0" tIns="0" rIns="0" bIns="0" rtlCol="0" anchor="ctr"/>
          <a:lstStyle/>
          <a:p>
            <a:pPr indent="0" marL="0">
              <a:buNone/>
            </a:pPr>
            <a:r>
              <a:rPr lang="en-US" sz="1100" b="1" spc="200" kern="0" dirty="0">
                <a:solidFill>
                  <a:srgbClr val="0E5F6B"/>
                </a:solidFill>
                <a:latin typeface="Arial" pitchFamily="34" charset="0"/>
                <a:ea typeface="Arial" pitchFamily="34" charset="-122"/>
                <a:cs typeface="Arial" pitchFamily="34" charset="-120"/>
              </a:rPr>
              <a:t>データと技術</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400" b="1" dirty="0">
                <a:solidFill>
                  <a:srgbClr val="0B1F33"/>
                </a:solidFill>
                <a:latin typeface="Arial" pitchFamily="34" charset="0"/>
                <a:ea typeface="Arial" pitchFamily="34" charset="-122"/>
                <a:cs typeface="Arial" pitchFamily="34" charset="-120"/>
              </a:rPr>
              <a:t>権威ある出典 · 透明な方法 · オープンな技術</a:t>
            </a:r>
            <a:endParaRPr lang="en-US" sz="2400" dirty="0"/>
          </a:p>
        </p:txBody>
      </p:sp>
      <p:sp>
        <p:nvSpPr>
          <p:cNvPr id="5" name="Shape 3"/>
          <p:cNvSpPr/>
          <p:nvPr/>
        </p:nvSpPr>
        <p:spPr>
          <a:xfrm>
            <a:off x="457200" y="1188720"/>
            <a:ext cx="5623560" cy="3108960"/>
          </a:xfrm>
          <a:prstGeom prst="roundRect">
            <a:avLst>
              <a:gd name="adj" fmla="val 1765"/>
            </a:avLst>
          </a:prstGeom>
          <a:solidFill>
            <a:srgbClr val="FFFFFF"/>
          </a:solidFill>
          <a:ln w="12700">
            <a:solidFill>
              <a:srgbClr val="C5D2D4"/>
            </a:solidFill>
            <a:prstDash val="solid"/>
          </a:ln>
        </p:spPr>
      </p:sp>
      <p:sp>
        <p:nvSpPr>
          <p:cNvPr id="6" name="Shape 4"/>
          <p:cNvSpPr/>
          <p:nvPr/>
        </p:nvSpPr>
        <p:spPr>
          <a:xfrm>
            <a:off x="457200" y="1188720"/>
            <a:ext cx="73152" cy="3108960"/>
          </a:xfrm>
          <a:prstGeom prst="rect">
            <a:avLst/>
          </a:prstGeom>
          <a:solidFill>
            <a:srgbClr val="0E5F6B"/>
          </a:solidFill>
          <a:ln/>
        </p:spPr>
      </p:sp>
      <p:sp>
        <p:nvSpPr>
          <p:cNvPr id="7" name="Text 5"/>
          <p:cNvSpPr/>
          <p:nvPr/>
        </p:nvSpPr>
        <p:spPr>
          <a:xfrm>
            <a:off x="658368" y="1316736"/>
            <a:ext cx="530352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想定データ源</a:t>
            </a:r>
            <a:endParaRPr lang="en-US" sz="1200" dirty="0"/>
          </a:p>
        </p:txBody>
      </p:sp>
      <p:sp>
        <p:nvSpPr>
          <p:cNvPr id="8" name="Text 6"/>
          <p:cNvSpPr/>
          <p:nvPr/>
        </p:nvSpPr>
        <p:spPr>
          <a:xfrm>
            <a:off x="658368" y="1572768"/>
            <a:ext cx="5303520" cy="260604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 LADWP Urban Water Management Plans</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Metropolitan Water District (MWD)</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California DWR / 州水道プロジェクト</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米国開拓局（コロラド）</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USGS／州の水文・盆地</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NASA／気候・積雪（適宜）</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米国センサス／ACS（人口・需要）</a:t>
            </a:r>
            <a:endParaRPr lang="en-US" sz="1100" dirty="0"/>
          </a:p>
          <a:p>
            <a:pPr indent="0" marL="0">
              <a:buNone/>
            </a:pP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全レイヤー: 取得日・限界・偽の精確なシェアなし。</a:t>
            </a:r>
            <a:endParaRPr lang="en-US" sz="1100" dirty="0"/>
          </a:p>
        </p:txBody>
      </p:sp>
      <p:sp>
        <p:nvSpPr>
          <p:cNvPr id="9" name="Shape 7"/>
          <p:cNvSpPr/>
          <p:nvPr/>
        </p:nvSpPr>
        <p:spPr>
          <a:xfrm>
            <a:off x="6263640" y="1188720"/>
            <a:ext cx="5440680" cy="3108960"/>
          </a:xfrm>
          <a:prstGeom prst="roundRect">
            <a:avLst>
              <a:gd name="adj" fmla="val 1765"/>
            </a:avLst>
          </a:prstGeom>
          <a:solidFill>
            <a:srgbClr val="FFFFFF"/>
          </a:solidFill>
          <a:ln w="12700">
            <a:solidFill>
              <a:srgbClr val="C5D2D4"/>
            </a:solidFill>
            <a:prstDash val="solid"/>
          </a:ln>
        </p:spPr>
      </p:sp>
      <p:sp>
        <p:nvSpPr>
          <p:cNvPr id="10" name="Shape 8"/>
          <p:cNvSpPr/>
          <p:nvPr/>
        </p:nvSpPr>
        <p:spPr>
          <a:xfrm>
            <a:off x="6263640" y="1188720"/>
            <a:ext cx="73152" cy="3108960"/>
          </a:xfrm>
          <a:prstGeom prst="rect">
            <a:avLst/>
          </a:prstGeom>
          <a:solidFill>
            <a:srgbClr val="1F5F7A"/>
          </a:solidFill>
          <a:ln/>
        </p:spPr>
      </p:sp>
      <p:sp>
        <p:nvSpPr>
          <p:cNvPr id="11" name="Text 9"/>
          <p:cNvSpPr/>
          <p:nvPr/>
        </p:nvSpPr>
        <p:spPr>
          <a:xfrm>
            <a:off x="6464808" y="1316736"/>
            <a:ext cx="512064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技術スタック（v1 → v2）</a:t>
            </a:r>
            <a:endParaRPr lang="en-US" sz="1200" dirty="0"/>
          </a:p>
        </p:txBody>
      </p:sp>
      <p:sp>
        <p:nvSpPr>
          <p:cNvPr id="12" name="Text 10"/>
          <p:cNvSpPr/>
          <p:nvPr/>
        </p:nvSpPr>
        <p:spPr>
          <a:xfrm>
            <a:off x="6464808" y="1572768"/>
            <a:ext cx="5120640" cy="260604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v1（現行プロトタイプ）:</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スクロール連動マップエッセイ</a:t>
            </a:r>
            <a:endParaRPr lang="en-US" sz="1100" dirty="0"/>
          </a:p>
          <a:p>
            <a:pPr indent="0" marL="0">
              <a:buNone/>
            </a:pP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v2 プラットフォーム:</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Web GIS（MapLibre / ArcGIS）</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時系列ダッシュボード</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シナリオエンジン</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出典に根拠づけた「なぜ」説明（任意でLLM）</a:t>
            </a: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 静的配信 + サーバレスAPI</a:t>
            </a:r>
            <a:endParaRPr lang="en-US" sz="1100" dirty="0"/>
          </a:p>
          <a:p>
            <a:pPr indent="0" marL="0">
              <a:buNone/>
            </a:pP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倫理: 模式的回廊と明記。水利権図ではない。</a:t>
            </a:r>
            <a:endParaRPr lang="en-US" sz="1100" dirty="0"/>
          </a:p>
        </p:txBody>
      </p:sp>
      <p:sp>
        <p:nvSpPr>
          <p:cNvPr id="13" name="Shape 11"/>
          <p:cNvSpPr/>
          <p:nvPr/>
        </p:nvSpPr>
        <p:spPr>
          <a:xfrm>
            <a:off x="0" y="4828032"/>
            <a:ext cx="12191695" cy="201168"/>
          </a:xfrm>
          <a:prstGeom prst="rect">
            <a:avLst/>
          </a:prstGeom>
          <a:solidFill>
            <a:srgbClr val="0B1F33"/>
          </a:solidFill>
          <a:ln/>
        </p:spPr>
      </p:sp>
      <p:sp>
        <p:nvSpPr>
          <p:cNvPr id="14" name="Text 12"/>
          <p:cNvSpPr/>
          <p:nvPr/>
        </p:nvSpPr>
        <p:spPr>
          <a:xfrm>
            <a:off x="365760" y="4846320"/>
            <a:ext cx="5486400" cy="164592"/>
          </a:xfrm>
          <a:prstGeom prst="rect">
            <a:avLst/>
          </a:prstGeom>
          <a:noFill/>
          <a:ln/>
        </p:spPr>
        <p:txBody>
          <a:bodyPr wrap="square" lIns="0" tIns="0" rIns="0" bIns="0" rtlCol="0" anchor="ctr"/>
          <a:lstStyle/>
          <a:p>
            <a:pPr indent="0" marL="0">
              <a:buNone/>
            </a:pPr>
            <a:r>
              <a:rPr lang="en-US" sz="800" b="1" dirty="0">
                <a:solidFill>
                  <a:srgbClr val="E8F2F3"/>
                </a:solidFill>
                <a:latin typeface="Arial" pitchFamily="34" charset="0"/>
                <a:ea typeface="Arial" pitchFamily="34" charset="-122"/>
                <a:cs typeface="Arial" pitchFamily="34" charset="-120"/>
              </a:rPr>
              <a:t>LA WATER SECURITY ATLAS</a:t>
            </a:r>
            <a:endParaRPr lang="en-US" sz="800" dirty="0"/>
          </a:p>
        </p:txBody>
      </p:sp>
      <p:sp>
        <p:nvSpPr>
          <p:cNvPr id="15" name="Text 13"/>
          <p:cNvSpPr/>
          <p:nvPr/>
        </p:nvSpPr>
        <p:spPr>
          <a:xfrm>
            <a:off x="7498080" y="4846320"/>
            <a:ext cx="4297680" cy="164592"/>
          </a:xfrm>
          <a:prstGeom prst="rect">
            <a:avLst/>
          </a:prstGeom>
          <a:noFill/>
          <a:ln/>
        </p:spPr>
        <p:txBody>
          <a:bodyPr wrap="square" lIns="0" tIns="0" rIns="0" bIns="0" rtlCol="0" anchor="ctr"/>
          <a:lstStyle/>
          <a:p>
            <a:pPr algn="r" indent="0" marL="0">
              <a:buNone/>
            </a:pPr>
            <a:r>
              <a:rPr lang="en-US" sz="800" dirty="0">
                <a:solidFill>
                  <a:srgbClr val="E8F2F3"/>
                </a:solidFill>
                <a:latin typeface="Arial" pitchFamily="34" charset="0"/>
                <a:ea typeface="Arial" pitchFamily="34" charset="-122"/>
                <a:cs typeface="Arial" pitchFamily="34" charset="-120"/>
              </a:rPr>
              <a:t>野澤カイ  ·  11 / 15</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029200"/>
          </a:xfrm>
          <a:prstGeom prst="rect">
            <a:avLst/>
          </a:prstGeom>
          <a:solidFill>
            <a:srgbClr val="F4F6F5"/>
          </a:solidFill>
          <a:ln/>
        </p:spPr>
      </p:sp>
      <p:sp>
        <p:nvSpPr>
          <p:cNvPr id="3" name="Text 1"/>
          <p:cNvSpPr/>
          <p:nvPr/>
        </p:nvSpPr>
        <p:spPr>
          <a:xfrm>
            <a:off x="457200" y="256032"/>
            <a:ext cx="11247120" cy="256032"/>
          </a:xfrm>
          <a:prstGeom prst="rect">
            <a:avLst/>
          </a:prstGeom>
          <a:noFill/>
          <a:ln/>
        </p:spPr>
        <p:txBody>
          <a:bodyPr wrap="square" lIns="0" tIns="0" rIns="0" bIns="0" rtlCol="0" anchor="ctr"/>
          <a:lstStyle/>
          <a:p>
            <a:pPr indent="0" marL="0">
              <a:buNone/>
            </a:pPr>
            <a:r>
              <a:rPr lang="en-US" sz="1100" b="1" spc="200" kern="0" dirty="0">
                <a:solidFill>
                  <a:srgbClr val="0E5F6B"/>
                </a:solidFill>
                <a:latin typeface="Arial" pitchFamily="34" charset="0"/>
                <a:ea typeface="Arial" pitchFamily="34" charset="-122"/>
                <a:cs typeface="Arial" pitchFamily="34" charset="-120"/>
              </a:rPr>
              <a:t>ロードマップ</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400" b="1" dirty="0">
                <a:solidFill>
                  <a:srgbClr val="0B1F33"/>
                </a:solidFill>
                <a:latin typeface="Arial" pitchFamily="34" charset="0"/>
                <a:ea typeface="Arial" pitchFamily="34" charset="-122"/>
                <a:cs typeface="Arial" pitchFamily="34" charset="-120"/>
              </a:rPr>
              <a:t>Phase 1–3 — その先は California Resource Security Atlas</a:t>
            </a:r>
            <a:endParaRPr lang="en-US" sz="2400" dirty="0"/>
          </a:p>
        </p:txBody>
      </p:sp>
      <p:sp>
        <p:nvSpPr>
          <p:cNvPr id="5" name="Shape 3"/>
          <p:cNvSpPr/>
          <p:nvPr/>
        </p:nvSpPr>
        <p:spPr>
          <a:xfrm>
            <a:off x="457200" y="1188720"/>
            <a:ext cx="3657600" cy="2148840"/>
          </a:xfrm>
          <a:prstGeom prst="roundRect">
            <a:avLst>
              <a:gd name="adj" fmla="val 2553"/>
            </a:avLst>
          </a:prstGeom>
          <a:solidFill>
            <a:srgbClr val="FFFFFF"/>
          </a:solidFill>
          <a:ln w="12700">
            <a:solidFill>
              <a:srgbClr val="C5D2D4"/>
            </a:solidFill>
            <a:prstDash val="solid"/>
          </a:ln>
        </p:spPr>
      </p:sp>
      <p:sp>
        <p:nvSpPr>
          <p:cNvPr id="6" name="Text 4"/>
          <p:cNvSpPr/>
          <p:nvPr/>
        </p:nvSpPr>
        <p:spPr>
          <a:xfrm>
            <a:off x="685800" y="1371600"/>
            <a:ext cx="3200400" cy="274320"/>
          </a:xfrm>
          <a:prstGeom prst="rect">
            <a:avLst/>
          </a:prstGeom>
          <a:noFill/>
          <a:ln/>
        </p:spPr>
        <p:txBody>
          <a:bodyPr wrap="square" lIns="0" tIns="0" rIns="0" bIns="0" rtlCol="0" anchor="ctr"/>
          <a:lstStyle/>
          <a:p>
            <a:pPr indent="0" marL="0">
              <a:buNone/>
            </a:pPr>
            <a:r>
              <a:rPr lang="en-US" sz="1200" b="1" dirty="0">
                <a:solidFill>
                  <a:srgbClr val="2A8F9E"/>
                </a:solidFill>
                <a:latin typeface="Arial" pitchFamily="34" charset="0"/>
                <a:ea typeface="Arial" pitchFamily="34" charset="-122"/>
                <a:cs typeface="Arial" pitchFamily="34" charset="-120"/>
              </a:rPr>
              <a:t>Phase 1</a:t>
            </a:r>
            <a:endParaRPr lang="en-US" sz="1200" dirty="0"/>
          </a:p>
        </p:txBody>
      </p:sp>
      <p:sp>
        <p:nvSpPr>
          <p:cNvPr id="7" name="Text 5"/>
          <p:cNvSpPr/>
          <p:nvPr/>
        </p:nvSpPr>
        <p:spPr>
          <a:xfrm>
            <a:off x="685800" y="1691640"/>
            <a:ext cx="3200400" cy="411480"/>
          </a:xfrm>
          <a:prstGeom prst="rect">
            <a:avLst/>
          </a:prstGeom>
          <a:noFill/>
          <a:ln/>
        </p:spPr>
        <p:txBody>
          <a:bodyPr wrap="square" lIns="0" tIns="0" rIns="0" bIns="0" rtlCol="0" anchor="ctr"/>
          <a:lstStyle/>
          <a:p>
            <a:pPr indent="0" marL="0">
              <a:buNone/>
            </a:pPr>
            <a:r>
              <a:rPr lang="en-US" sz="1400" b="1" dirty="0">
                <a:solidFill>
                  <a:srgbClr val="0B1F33"/>
                </a:solidFill>
                <a:latin typeface="Arial" pitchFamily="34" charset="0"/>
                <a:ea typeface="Arial" pitchFamily="34" charset="-122"/>
                <a:cs typeface="Arial" pitchFamily="34" charset="-120"/>
              </a:rPr>
              <a:t>公開水物語 + 方法</a:t>
            </a:r>
            <a:endParaRPr lang="en-US" sz="1400" dirty="0"/>
          </a:p>
        </p:txBody>
      </p:sp>
      <p:sp>
        <p:nvSpPr>
          <p:cNvPr id="8" name="Text 6"/>
          <p:cNvSpPr/>
          <p:nvPr/>
        </p:nvSpPr>
        <p:spPr>
          <a:xfrm>
            <a:off x="685800" y="2194560"/>
            <a:ext cx="3200400" cy="914400"/>
          </a:xfrm>
          <a:prstGeom prst="rect">
            <a:avLst/>
          </a:prstGeom>
          <a:noFill/>
          <a:ln/>
        </p:spPr>
        <p:txBody>
          <a:bodyPr wrap="square" lIns="0" tIns="0" rIns="0" bIns="0" rtlCol="0" anchor="ctr"/>
          <a:lstStyle/>
          <a:p>
            <a:pPr indent="0" marL="0">
              <a:buNone/>
            </a:pPr>
            <a:r>
              <a:rPr lang="en-US" sz="1200" dirty="0">
                <a:solidFill>
                  <a:srgbClr val="5A6B73"/>
                </a:solidFill>
                <a:latin typeface="Arial" pitchFamily="34" charset="0"/>
                <a:ea typeface="Arial" pitchFamily="34" charset="-122"/>
                <a:cs typeface="Arial" pitchFamily="34" charset="-120"/>
              </a:rPr>
              <a:t>水源→蛇口の読みやすい物語を公開。学術出典。範囲と地図表現への教員フィードバック。</a:t>
            </a:r>
            <a:endParaRPr lang="en-US" sz="1200" dirty="0"/>
          </a:p>
        </p:txBody>
      </p:sp>
      <p:sp>
        <p:nvSpPr>
          <p:cNvPr id="9" name="Shape 7"/>
          <p:cNvSpPr/>
          <p:nvPr/>
        </p:nvSpPr>
        <p:spPr>
          <a:xfrm>
            <a:off x="4297680" y="1188720"/>
            <a:ext cx="3657600" cy="2148840"/>
          </a:xfrm>
          <a:prstGeom prst="roundRect">
            <a:avLst>
              <a:gd name="adj" fmla="val 2553"/>
            </a:avLst>
          </a:prstGeom>
          <a:solidFill>
            <a:srgbClr val="FFFFFF"/>
          </a:solidFill>
          <a:ln w="12700">
            <a:solidFill>
              <a:srgbClr val="C5D2D4"/>
            </a:solidFill>
            <a:prstDash val="solid"/>
          </a:ln>
        </p:spPr>
      </p:sp>
      <p:sp>
        <p:nvSpPr>
          <p:cNvPr id="10" name="Text 8"/>
          <p:cNvSpPr/>
          <p:nvPr/>
        </p:nvSpPr>
        <p:spPr>
          <a:xfrm>
            <a:off x="4526280" y="1371600"/>
            <a:ext cx="3200400" cy="274320"/>
          </a:xfrm>
          <a:prstGeom prst="rect">
            <a:avLst/>
          </a:prstGeom>
          <a:noFill/>
          <a:ln/>
        </p:spPr>
        <p:txBody>
          <a:bodyPr wrap="square" lIns="0" tIns="0" rIns="0" bIns="0" rtlCol="0" anchor="ctr"/>
          <a:lstStyle/>
          <a:p>
            <a:pPr indent="0" marL="0">
              <a:buNone/>
            </a:pPr>
            <a:r>
              <a:rPr lang="en-US" sz="1200" b="1" dirty="0">
                <a:solidFill>
                  <a:srgbClr val="2A8F9E"/>
                </a:solidFill>
                <a:latin typeface="Arial" pitchFamily="34" charset="0"/>
                <a:ea typeface="Arial" pitchFamily="34" charset="-122"/>
                <a:cs typeface="Arial" pitchFamily="34" charset="-120"/>
              </a:rPr>
              <a:t>Phase 2</a:t>
            </a:r>
            <a:endParaRPr lang="en-US" sz="1200" dirty="0"/>
          </a:p>
        </p:txBody>
      </p:sp>
      <p:sp>
        <p:nvSpPr>
          <p:cNvPr id="11" name="Text 9"/>
          <p:cNvSpPr/>
          <p:nvPr/>
        </p:nvSpPr>
        <p:spPr>
          <a:xfrm>
            <a:off x="4526280" y="1691640"/>
            <a:ext cx="3200400" cy="411480"/>
          </a:xfrm>
          <a:prstGeom prst="rect">
            <a:avLst/>
          </a:prstGeom>
          <a:noFill/>
          <a:ln/>
        </p:spPr>
        <p:txBody>
          <a:bodyPr wrap="square" lIns="0" tIns="0" rIns="0" bIns="0" rtlCol="0" anchor="ctr"/>
          <a:lstStyle/>
          <a:p>
            <a:pPr indent="0" marL="0">
              <a:buNone/>
            </a:pPr>
            <a:r>
              <a:rPr lang="en-US" sz="1400" b="1" dirty="0">
                <a:solidFill>
                  <a:srgbClr val="0B1F33"/>
                </a:solidFill>
                <a:latin typeface="Arial" pitchFamily="34" charset="0"/>
                <a:ea typeface="Arial" pitchFamily="34" charset="-122"/>
                <a:cs typeface="Arial" pitchFamily="34" charset="-120"/>
              </a:rPr>
              <a:t>アトラス層 + ドシエ</a:t>
            </a:r>
            <a:endParaRPr lang="en-US" sz="1400" dirty="0"/>
          </a:p>
        </p:txBody>
      </p:sp>
      <p:sp>
        <p:nvSpPr>
          <p:cNvPr id="12" name="Text 10"/>
          <p:cNvSpPr/>
          <p:nvPr/>
        </p:nvSpPr>
        <p:spPr>
          <a:xfrm>
            <a:off x="4526280" y="2194560"/>
            <a:ext cx="3200400" cy="914400"/>
          </a:xfrm>
          <a:prstGeom prst="rect">
            <a:avLst/>
          </a:prstGeom>
          <a:noFill/>
          <a:ln/>
        </p:spPr>
        <p:txBody>
          <a:bodyPr wrap="square" lIns="0" tIns="0" rIns="0" bIns="0" rtlCol="0" anchor="ctr"/>
          <a:lstStyle/>
          <a:p>
            <a:pPr indent="0" marL="0">
              <a:buNone/>
            </a:pPr>
            <a:r>
              <a:rPr lang="en-US" sz="1200" dirty="0">
                <a:solidFill>
                  <a:srgbClr val="5A6B73"/>
                </a:solidFill>
                <a:latin typeface="Arial" pitchFamily="34" charset="0"/>
                <a:ea typeface="Arial" pitchFamily="34" charset="-122"/>
                <a:cs typeface="Arial" pitchFamily="34" charset="-120"/>
              </a:rPr>
              <a:t>水源・過程・インフラ。気候／旱魃の時系列。水–エネルギー連関。</a:t>
            </a:r>
            <a:endParaRPr lang="en-US" sz="1200" dirty="0"/>
          </a:p>
        </p:txBody>
      </p:sp>
      <p:sp>
        <p:nvSpPr>
          <p:cNvPr id="13" name="Shape 11"/>
          <p:cNvSpPr/>
          <p:nvPr/>
        </p:nvSpPr>
        <p:spPr>
          <a:xfrm>
            <a:off x="8138160" y="1188720"/>
            <a:ext cx="3657600" cy="2148840"/>
          </a:xfrm>
          <a:prstGeom prst="roundRect">
            <a:avLst>
              <a:gd name="adj" fmla="val 2553"/>
            </a:avLst>
          </a:prstGeom>
          <a:solidFill>
            <a:srgbClr val="FFFFFF"/>
          </a:solidFill>
          <a:ln w="12700">
            <a:solidFill>
              <a:srgbClr val="C5D2D4"/>
            </a:solidFill>
            <a:prstDash val="solid"/>
          </a:ln>
        </p:spPr>
      </p:sp>
      <p:sp>
        <p:nvSpPr>
          <p:cNvPr id="14" name="Text 12"/>
          <p:cNvSpPr/>
          <p:nvPr/>
        </p:nvSpPr>
        <p:spPr>
          <a:xfrm>
            <a:off x="8366760" y="1371600"/>
            <a:ext cx="3200400" cy="274320"/>
          </a:xfrm>
          <a:prstGeom prst="rect">
            <a:avLst/>
          </a:prstGeom>
          <a:noFill/>
          <a:ln/>
        </p:spPr>
        <p:txBody>
          <a:bodyPr wrap="square" lIns="0" tIns="0" rIns="0" bIns="0" rtlCol="0" anchor="ctr"/>
          <a:lstStyle/>
          <a:p>
            <a:pPr indent="0" marL="0">
              <a:buNone/>
            </a:pPr>
            <a:r>
              <a:rPr lang="en-US" sz="1200" b="1" dirty="0">
                <a:solidFill>
                  <a:srgbClr val="2A8F9E"/>
                </a:solidFill>
                <a:latin typeface="Arial" pitchFamily="34" charset="0"/>
                <a:ea typeface="Arial" pitchFamily="34" charset="-122"/>
                <a:cs typeface="Arial" pitchFamily="34" charset="-120"/>
              </a:rPr>
              <a:t>Phase 3</a:t>
            </a:r>
            <a:endParaRPr lang="en-US" sz="1200" dirty="0"/>
          </a:p>
        </p:txBody>
      </p:sp>
      <p:sp>
        <p:nvSpPr>
          <p:cNvPr id="15" name="Text 13"/>
          <p:cNvSpPr/>
          <p:nvPr/>
        </p:nvSpPr>
        <p:spPr>
          <a:xfrm>
            <a:off x="8366760" y="1691640"/>
            <a:ext cx="3200400" cy="411480"/>
          </a:xfrm>
          <a:prstGeom prst="rect">
            <a:avLst/>
          </a:prstGeom>
          <a:noFill/>
          <a:ln/>
        </p:spPr>
        <p:txBody>
          <a:bodyPr wrap="square" lIns="0" tIns="0" rIns="0" bIns="0" rtlCol="0" anchor="ctr"/>
          <a:lstStyle/>
          <a:p>
            <a:pPr indent="0" marL="0">
              <a:buNone/>
            </a:pPr>
            <a:r>
              <a:rPr lang="en-US" sz="1400" b="1" dirty="0">
                <a:solidFill>
                  <a:srgbClr val="0B1F33"/>
                </a:solidFill>
                <a:latin typeface="Arial" pitchFamily="34" charset="0"/>
                <a:ea typeface="Arial" pitchFamily="34" charset="-122"/>
                <a:cs typeface="Arial" pitchFamily="34" charset="-120"/>
              </a:rPr>
              <a:t>シミュレーション + 政策比較</a:t>
            </a:r>
            <a:endParaRPr lang="en-US" sz="1400" dirty="0"/>
          </a:p>
        </p:txBody>
      </p:sp>
      <p:sp>
        <p:nvSpPr>
          <p:cNvPr id="16" name="Text 14"/>
          <p:cNvSpPr/>
          <p:nvPr/>
        </p:nvSpPr>
        <p:spPr>
          <a:xfrm>
            <a:off x="8366760" y="2194560"/>
            <a:ext cx="3200400" cy="914400"/>
          </a:xfrm>
          <a:prstGeom prst="rect">
            <a:avLst/>
          </a:prstGeom>
          <a:noFill/>
          <a:ln/>
        </p:spPr>
        <p:txBody>
          <a:bodyPr wrap="square" lIns="0" tIns="0" rIns="0" bIns="0" rtlCol="0" anchor="ctr"/>
          <a:lstStyle/>
          <a:p>
            <a:pPr indent="0" marL="0">
              <a:buNone/>
            </a:pPr>
            <a:r>
              <a:rPr lang="en-US" sz="1200" dirty="0">
                <a:solidFill>
                  <a:srgbClr val="5A6B73"/>
                </a:solidFill>
                <a:latin typeface="Arial" pitchFamily="34" charset="0"/>
                <a:ea typeface="Arial" pitchFamily="34" charset="-122"/>
                <a:cs typeface="Arial" pitchFamily="34" charset="-120"/>
              </a:rPr>
              <a:t>積雪／コロラドのスライダー。2035ポートフォリオ比較。仮定と不確実性の文書化。</a:t>
            </a:r>
            <a:endParaRPr lang="en-US" sz="1200" dirty="0"/>
          </a:p>
        </p:txBody>
      </p:sp>
      <p:sp>
        <p:nvSpPr>
          <p:cNvPr id="17" name="Shape 15"/>
          <p:cNvSpPr/>
          <p:nvPr/>
        </p:nvSpPr>
        <p:spPr>
          <a:xfrm>
            <a:off x="457200" y="3520440"/>
            <a:ext cx="11247120" cy="868680"/>
          </a:xfrm>
          <a:prstGeom prst="roundRect">
            <a:avLst>
              <a:gd name="adj" fmla="val 6316"/>
            </a:avLst>
          </a:prstGeom>
          <a:solidFill>
            <a:srgbClr val="0B1F33"/>
          </a:solidFill>
          <a:ln/>
        </p:spPr>
      </p:sp>
      <p:sp>
        <p:nvSpPr>
          <p:cNvPr id="18" name="Text 16"/>
          <p:cNvSpPr/>
          <p:nvPr/>
        </p:nvSpPr>
        <p:spPr>
          <a:xfrm>
            <a:off x="685800" y="3749040"/>
            <a:ext cx="10789920" cy="45720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展望: California Resource Security Atlas — 水 · エネルギー · 山火事 · 住宅 · 港湾 · 地震 — 同じGIS背骨。</a:t>
            </a:r>
            <a:endParaRPr lang="en-US" sz="1300" dirty="0"/>
          </a:p>
        </p:txBody>
      </p:sp>
      <p:sp>
        <p:nvSpPr>
          <p:cNvPr id="19" name="Shape 17"/>
          <p:cNvSpPr/>
          <p:nvPr/>
        </p:nvSpPr>
        <p:spPr>
          <a:xfrm>
            <a:off x="0" y="4828032"/>
            <a:ext cx="12191695" cy="201168"/>
          </a:xfrm>
          <a:prstGeom prst="rect">
            <a:avLst/>
          </a:prstGeom>
          <a:solidFill>
            <a:srgbClr val="0B1F33"/>
          </a:solidFill>
          <a:ln/>
        </p:spPr>
      </p:sp>
      <p:sp>
        <p:nvSpPr>
          <p:cNvPr id="20" name="Text 18"/>
          <p:cNvSpPr/>
          <p:nvPr/>
        </p:nvSpPr>
        <p:spPr>
          <a:xfrm>
            <a:off x="365760" y="4846320"/>
            <a:ext cx="5486400" cy="164592"/>
          </a:xfrm>
          <a:prstGeom prst="rect">
            <a:avLst/>
          </a:prstGeom>
          <a:noFill/>
          <a:ln/>
        </p:spPr>
        <p:txBody>
          <a:bodyPr wrap="square" lIns="0" tIns="0" rIns="0" bIns="0" rtlCol="0" anchor="ctr"/>
          <a:lstStyle/>
          <a:p>
            <a:pPr indent="0" marL="0">
              <a:buNone/>
            </a:pPr>
            <a:r>
              <a:rPr lang="en-US" sz="800" b="1" dirty="0">
                <a:solidFill>
                  <a:srgbClr val="E8F2F3"/>
                </a:solidFill>
                <a:latin typeface="Arial" pitchFamily="34" charset="0"/>
                <a:ea typeface="Arial" pitchFamily="34" charset="-122"/>
                <a:cs typeface="Arial" pitchFamily="34" charset="-120"/>
              </a:rPr>
              <a:t>LA WATER SECURITY ATLAS</a:t>
            </a:r>
            <a:endParaRPr lang="en-US" sz="800" dirty="0"/>
          </a:p>
        </p:txBody>
      </p:sp>
      <p:sp>
        <p:nvSpPr>
          <p:cNvPr id="21" name="Text 19"/>
          <p:cNvSpPr/>
          <p:nvPr/>
        </p:nvSpPr>
        <p:spPr>
          <a:xfrm>
            <a:off x="7498080" y="4846320"/>
            <a:ext cx="4297680" cy="164592"/>
          </a:xfrm>
          <a:prstGeom prst="rect">
            <a:avLst/>
          </a:prstGeom>
          <a:noFill/>
          <a:ln/>
        </p:spPr>
        <p:txBody>
          <a:bodyPr wrap="square" lIns="0" tIns="0" rIns="0" bIns="0" rtlCol="0" anchor="ctr"/>
          <a:lstStyle/>
          <a:p>
            <a:pPr algn="r" indent="0" marL="0">
              <a:buNone/>
            </a:pPr>
            <a:r>
              <a:rPr lang="en-US" sz="800" dirty="0">
                <a:solidFill>
                  <a:srgbClr val="E8F2F3"/>
                </a:solidFill>
                <a:latin typeface="Arial" pitchFamily="34" charset="0"/>
                <a:ea typeface="Arial" pitchFamily="34" charset="-122"/>
                <a:cs typeface="Arial" pitchFamily="34" charset="-120"/>
              </a:rPr>
              <a:t>野澤カイ  ·  12 / 15</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5029200"/>
          </a:xfrm>
          <a:prstGeom prst="rect">
            <a:avLst/>
          </a:prstGeom>
          <a:solidFill>
            <a:srgbClr val="F4F6F5"/>
          </a:solidFill>
          <a:ln/>
        </p:spPr>
      </p:sp>
      <p:sp>
        <p:nvSpPr>
          <p:cNvPr id="3" name="Text 1"/>
          <p:cNvSpPr/>
          <p:nvPr/>
        </p:nvSpPr>
        <p:spPr>
          <a:xfrm>
            <a:off x="457200" y="256032"/>
            <a:ext cx="11247120" cy="256032"/>
          </a:xfrm>
          <a:prstGeom prst="rect">
            <a:avLst/>
          </a:prstGeom>
          <a:noFill/>
          <a:ln/>
        </p:spPr>
        <p:txBody>
          <a:bodyPr wrap="square" lIns="0" tIns="0" rIns="0" bIns="0" rtlCol="0" anchor="ctr"/>
          <a:lstStyle/>
          <a:p>
            <a:pPr indent="0" marL="0">
              <a:buNone/>
            </a:pPr>
            <a:r>
              <a:rPr lang="en-US" sz="1100" b="1" spc="200" kern="0" dirty="0">
                <a:solidFill>
                  <a:srgbClr val="0E5F6B"/>
                </a:solidFill>
                <a:latin typeface="Arial" pitchFamily="34" charset="0"/>
                <a:ea typeface="Arial" pitchFamily="34" charset="-122"/>
                <a:cs typeface="Arial" pitchFamily="34" charset="-120"/>
              </a:rPr>
              <a:t>学術的対応</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400" b="1" dirty="0">
                <a:solidFill>
                  <a:srgbClr val="0B1F33"/>
                </a:solidFill>
                <a:latin typeface="Arial" pitchFamily="34" charset="0"/>
                <a:ea typeface="Arial" pitchFamily="34" charset="-122"/>
                <a:cs typeface="Arial" pitchFamily="34" charset="-120"/>
              </a:rPr>
              <a:t>なぜ UC Berkeley と UCLA Geography に合うか</a:t>
            </a:r>
            <a:endParaRPr lang="en-US" sz="2400" dirty="0"/>
          </a:p>
        </p:txBody>
      </p:sp>
      <p:sp>
        <p:nvSpPr>
          <p:cNvPr id="5" name="Shape 3"/>
          <p:cNvSpPr/>
          <p:nvPr/>
        </p:nvSpPr>
        <p:spPr>
          <a:xfrm>
            <a:off x="457200" y="1188720"/>
            <a:ext cx="5623560" cy="3108960"/>
          </a:xfrm>
          <a:prstGeom prst="roundRect">
            <a:avLst>
              <a:gd name="adj" fmla="val 1765"/>
            </a:avLst>
          </a:prstGeom>
          <a:solidFill>
            <a:srgbClr val="FFFFFF"/>
          </a:solidFill>
          <a:ln w="12700">
            <a:solidFill>
              <a:srgbClr val="C5D2D4"/>
            </a:solidFill>
            <a:prstDash val="solid"/>
          </a:ln>
        </p:spPr>
      </p:sp>
      <p:sp>
        <p:nvSpPr>
          <p:cNvPr id="6" name="Shape 4"/>
          <p:cNvSpPr/>
          <p:nvPr/>
        </p:nvSpPr>
        <p:spPr>
          <a:xfrm>
            <a:off x="457200" y="1188720"/>
            <a:ext cx="73152" cy="3108960"/>
          </a:xfrm>
          <a:prstGeom prst="rect">
            <a:avLst/>
          </a:prstGeom>
          <a:solidFill>
            <a:srgbClr val="0E5F6B"/>
          </a:solidFill>
          <a:ln/>
        </p:spPr>
      </p:sp>
      <p:sp>
        <p:nvSpPr>
          <p:cNvPr id="7" name="Text 5"/>
          <p:cNvSpPr/>
          <p:nvPr/>
        </p:nvSpPr>
        <p:spPr>
          <a:xfrm>
            <a:off x="658368" y="1316736"/>
            <a:ext cx="530352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UC Berkeley Geography</a:t>
            </a:r>
            <a:endParaRPr lang="en-US" sz="1200" dirty="0"/>
          </a:p>
        </p:txBody>
      </p:sp>
      <p:sp>
        <p:nvSpPr>
          <p:cNvPr id="8" name="Text 6"/>
          <p:cNvSpPr/>
          <p:nvPr/>
        </p:nvSpPr>
        <p:spPr>
          <a:xfrm>
            <a:off x="658368" y="1572768"/>
            <a:ext cx="5303520" cy="260604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人間–環境システム、重要インフラ、気候適応、「なぜ」を問う空間分析を重視する。</a:t>
            </a:r>
            <a:endParaRPr lang="en-US" sz="1100" dirty="0"/>
          </a:p>
          <a:p>
            <a:pPr indent="0" marL="0">
              <a:buNone/>
            </a:pP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本プロジェクトは公開カートグラフィとシナリオ分析・制度説明を組み合わせる。装飾地図ではない。</a:t>
            </a:r>
            <a:endParaRPr lang="en-US" sz="1100" dirty="0"/>
          </a:p>
        </p:txBody>
      </p:sp>
      <p:sp>
        <p:nvSpPr>
          <p:cNvPr id="9" name="Shape 7"/>
          <p:cNvSpPr/>
          <p:nvPr/>
        </p:nvSpPr>
        <p:spPr>
          <a:xfrm>
            <a:off x="6263640" y="1188720"/>
            <a:ext cx="5440680" cy="3108960"/>
          </a:xfrm>
          <a:prstGeom prst="roundRect">
            <a:avLst>
              <a:gd name="adj" fmla="val 1765"/>
            </a:avLst>
          </a:prstGeom>
          <a:solidFill>
            <a:srgbClr val="FFFFFF"/>
          </a:solidFill>
          <a:ln w="12700">
            <a:solidFill>
              <a:srgbClr val="C5D2D4"/>
            </a:solidFill>
            <a:prstDash val="solid"/>
          </a:ln>
        </p:spPr>
      </p:sp>
      <p:sp>
        <p:nvSpPr>
          <p:cNvPr id="10" name="Shape 8"/>
          <p:cNvSpPr/>
          <p:nvPr/>
        </p:nvSpPr>
        <p:spPr>
          <a:xfrm>
            <a:off x="6263640" y="1188720"/>
            <a:ext cx="73152" cy="3108960"/>
          </a:xfrm>
          <a:prstGeom prst="rect">
            <a:avLst/>
          </a:prstGeom>
          <a:solidFill>
            <a:srgbClr val="1F5F7A"/>
          </a:solidFill>
          <a:ln/>
        </p:spPr>
      </p:sp>
      <p:sp>
        <p:nvSpPr>
          <p:cNvPr id="11" name="Text 9"/>
          <p:cNvSpPr/>
          <p:nvPr/>
        </p:nvSpPr>
        <p:spPr>
          <a:xfrm>
            <a:off x="6464808" y="1316736"/>
            <a:ext cx="512064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UCLA Geography</a:t>
            </a:r>
            <a:endParaRPr lang="en-US" sz="1200" dirty="0"/>
          </a:p>
        </p:txBody>
      </p:sp>
      <p:sp>
        <p:nvSpPr>
          <p:cNvPr id="12" name="Text 10"/>
          <p:cNvSpPr/>
          <p:nvPr/>
        </p:nvSpPr>
        <p:spPr>
          <a:xfrm>
            <a:off x="6464808" y="1572768"/>
            <a:ext cx="5120640" cy="260604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都市環境、南西部の水資源、GIS、南カリフォルニアの応用空間科学に強い伝統がある。</a:t>
            </a:r>
            <a:endParaRPr lang="en-US" sz="1100" dirty="0"/>
          </a:p>
          <a:p>
            <a:pPr indent="0" marL="0">
              <a:buNone/>
            </a:pPr>
            <a:endParaRPr lang="en-US" sz="1100" dirty="0"/>
          </a:p>
          <a:p>
            <a:pPr indent="0" marL="0">
              <a:buNone/>
            </a:pPr>
            <a:r>
              <a:rPr lang="en-US" sz="1100" dirty="0">
                <a:solidFill>
                  <a:srgbClr val="5A6B73"/>
                </a:solidFill>
                <a:latin typeface="Arial" pitchFamily="34" charset="0"/>
                <a:ea typeface="Arial" pitchFamily="34" charset="-122"/>
                <a:cs typeface="Arial" pitchFamily="34" charset="-120"/>
              </a:rPr>
              <a:t>LAを研究地域とし、広域のハイドロソーシャル・システムを扱うことは、ポートフォリオと将来研究に自然に適合する。</a:t>
            </a:r>
            <a:endParaRPr lang="en-US" sz="1100" dirty="0"/>
          </a:p>
        </p:txBody>
      </p:sp>
      <p:sp>
        <p:nvSpPr>
          <p:cNvPr id="13" name="Shape 11"/>
          <p:cNvSpPr/>
          <p:nvPr/>
        </p:nvSpPr>
        <p:spPr>
          <a:xfrm>
            <a:off x="0" y="4828032"/>
            <a:ext cx="12191695" cy="201168"/>
          </a:xfrm>
          <a:prstGeom prst="rect">
            <a:avLst/>
          </a:prstGeom>
          <a:solidFill>
            <a:srgbClr val="0B1F33"/>
          </a:solidFill>
          <a:ln/>
        </p:spPr>
      </p:sp>
      <p:sp>
        <p:nvSpPr>
          <p:cNvPr id="14" name="Text 12"/>
          <p:cNvSpPr/>
          <p:nvPr/>
        </p:nvSpPr>
        <p:spPr>
          <a:xfrm>
            <a:off x="365760" y="4846320"/>
            <a:ext cx="5486400" cy="164592"/>
          </a:xfrm>
          <a:prstGeom prst="rect">
            <a:avLst/>
          </a:prstGeom>
          <a:noFill/>
          <a:ln/>
        </p:spPr>
        <p:txBody>
          <a:bodyPr wrap="square" lIns="0" tIns="0" rIns="0" bIns="0" rtlCol="0" anchor="ctr"/>
          <a:lstStyle/>
          <a:p>
            <a:pPr indent="0" marL="0">
              <a:buNone/>
            </a:pPr>
            <a:r>
              <a:rPr lang="en-US" sz="800" b="1" dirty="0">
                <a:solidFill>
                  <a:srgbClr val="E8F2F3"/>
                </a:solidFill>
                <a:latin typeface="Arial" pitchFamily="34" charset="0"/>
                <a:ea typeface="Arial" pitchFamily="34" charset="-122"/>
                <a:cs typeface="Arial" pitchFamily="34" charset="-120"/>
              </a:rPr>
              <a:t>LA WATER SECURITY ATLAS</a:t>
            </a:r>
            <a:endParaRPr lang="en-US" sz="800" dirty="0"/>
          </a:p>
        </p:txBody>
      </p:sp>
      <p:sp>
        <p:nvSpPr>
          <p:cNvPr id="15" name="Text 13"/>
          <p:cNvSpPr/>
          <p:nvPr/>
        </p:nvSpPr>
        <p:spPr>
          <a:xfrm>
            <a:off x="7498080" y="4846320"/>
            <a:ext cx="4297680" cy="164592"/>
          </a:xfrm>
          <a:prstGeom prst="rect">
            <a:avLst/>
          </a:prstGeom>
          <a:noFill/>
          <a:ln/>
        </p:spPr>
        <p:txBody>
          <a:bodyPr wrap="square" lIns="0" tIns="0" rIns="0" bIns="0" rtlCol="0" anchor="ctr"/>
          <a:lstStyle/>
          <a:p>
            <a:pPr algn="r" indent="0" marL="0">
              <a:buNone/>
            </a:pPr>
            <a:r>
              <a:rPr lang="en-US" sz="800" dirty="0">
                <a:solidFill>
                  <a:srgbClr val="E8F2F3"/>
                </a:solidFill>
                <a:latin typeface="Arial" pitchFamily="34" charset="0"/>
                <a:ea typeface="Arial" pitchFamily="34" charset="-122"/>
                <a:cs typeface="Arial" pitchFamily="34" charset="-120"/>
              </a:rPr>
              <a:t>野澤カイ  ·  13 / 15</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5029200"/>
          </a:xfrm>
          <a:prstGeom prst="rect">
            <a:avLst/>
          </a:prstGeom>
          <a:solidFill>
            <a:srgbClr val="F4F6F5"/>
          </a:solidFill>
          <a:ln/>
        </p:spPr>
      </p:sp>
      <p:sp>
        <p:nvSpPr>
          <p:cNvPr id="3" name="Text 1"/>
          <p:cNvSpPr/>
          <p:nvPr/>
        </p:nvSpPr>
        <p:spPr>
          <a:xfrm>
            <a:off x="457200" y="256032"/>
            <a:ext cx="11247120" cy="256032"/>
          </a:xfrm>
          <a:prstGeom prst="rect">
            <a:avLst/>
          </a:prstGeom>
          <a:noFill/>
          <a:ln/>
        </p:spPr>
        <p:txBody>
          <a:bodyPr wrap="square" lIns="0" tIns="0" rIns="0" bIns="0" rtlCol="0" anchor="ctr"/>
          <a:lstStyle/>
          <a:p>
            <a:pPr indent="0" marL="0">
              <a:buNone/>
            </a:pPr>
            <a:r>
              <a:rPr lang="en-US" sz="1100" b="1" spc="200" kern="0" dirty="0">
                <a:solidFill>
                  <a:srgbClr val="0E5F6B"/>
                </a:solidFill>
                <a:latin typeface="Arial" pitchFamily="34" charset="0"/>
                <a:ea typeface="Arial" pitchFamily="34" charset="-122"/>
                <a:cs typeface="Arial" pitchFamily="34" charset="-120"/>
              </a:rPr>
              <a:t>成果とインパクト</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400" b="1" dirty="0">
                <a:solidFill>
                  <a:srgbClr val="0B1F33"/>
                </a:solidFill>
                <a:latin typeface="Arial" pitchFamily="34" charset="0"/>
                <a:ea typeface="Arial" pitchFamily="34" charset="-122"/>
                <a:cs typeface="Arial" pitchFamily="34" charset="-120"/>
              </a:rPr>
              <a:t>成功の定義</a:t>
            </a:r>
            <a:endParaRPr lang="en-US" sz="2400" dirty="0"/>
          </a:p>
        </p:txBody>
      </p:sp>
      <p:sp>
        <p:nvSpPr>
          <p:cNvPr id="5" name="Shape 3"/>
          <p:cNvSpPr/>
          <p:nvPr/>
        </p:nvSpPr>
        <p:spPr>
          <a:xfrm>
            <a:off x="457200" y="1188720"/>
            <a:ext cx="5623560" cy="1417320"/>
          </a:xfrm>
          <a:prstGeom prst="roundRect">
            <a:avLst>
              <a:gd name="adj" fmla="val 3871"/>
            </a:avLst>
          </a:prstGeom>
          <a:solidFill>
            <a:srgbClr val="FFFFFF"/>
          </a:solidFill>
          <a:ln w="12700">
            <a:solidFill>
              <a:srgbClr val="C5D2D4"/>
            </a:solidFill>
            <a:prstDash val="solid"/>
          </a:ln>
        </p:spPr>
      </p:sp>
      <p:sp>
        <p:nvSpPr>
          <p:cNvPr id="6" name="Shape 4"/>
          <p:cNvSpPr/>
          <p:nvPr/>
        </p:nvSpPr>
        <p:spPr>
          <a:xfrm>
            <a:off x="457200" y="1188720"/>
            <a:ext cx="73152" cy="1417320"/>
          </a:xfrm>
          <a:prstGeom prst="rect">
            <a:avLst/>
          </a:prstGeom>
          <a:solidFill>
            <a:srgbClr val="0E5F6B"/>
          </a:solidFill>
          <a:ln/>
        </p:spPr>
      </p:sp>
      <p:sp>
        <p:nvSpPr>
          <p:cNvPr id="7" name="Text 5"/>
          <p:cNvSpPr/>
          <p:nvPr/>
        </p:nvSpPr>
        <p:spPr>
          <a:xfrm>
            <a:off x="658368" y="1316736"/>
            <a:ext cx="530352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一般リテラシー</a:t>
            </a:r>
            <a:endParaRPr lang="en-US" sz="1200" dirty="0"/>
          </a:p>
        </p:txBody>
      </p:sp>
      <p:sp>
        <p:nvSpPr>
          <p:cNvPr id="8" name="Text 6"/>
          <p:cNvSpPr/>
          <p:nvPr/>
        </p:nvSpPr>
        <p:spPr>
          <a:xfrm>
            <a:off x="658368" y="1572768"/>
            <a:ext cx="5303520" cy="91440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専門家でなくても、水源・回廊・主要リスクを説明できる。</a:t>
            </a:r>
            <a:endParaRPr lang="en-US" sz="1100" dirty="0"/>
          </a:p>
        </p:txBody>
      </p:sp>
      <p:sp>
        <p:nvSpPr>
          <p:cNvPr id="9" name="Shape 7"/>
          <p:cNvSpPr/>
          <p:nvPr/>
        </p:nvSpPr>
        <p:spPr>
          <a:xfrm>
            <a:off x="6309360" y="1188720"/>
            <a:ext cx="5623560" cy="1417320"/>
          </a:xfrm>
          <a:prstGeom prst="roundRect">
            <a:avLst>
              <a:gd name="adj" fmla="val 3871"/>
            </a:avLst>
          </a:prstGeom>
          <a:solidFill>
            <a:srgbClr val="FFFFFF"/>
          </a:solidFill>
          <a:ln w="12700">
            <a:solidFill>
              <a:srgbClr val="C5D2D4"/>
            </a:solidFill>
            <a:prstDash val="solid"/>
          </a:ln>
        </p:spPr>
      </p:sp>
      <p:sp>
        <p:nvSpPr>
          <p:cNvPr id="10" name="Shape 8"/>
          <p:cNvSpPr/>
          <p:nvPr/>
        </p:nvSpPr>
        <p:spPr>
          <a:xfrm>
            <a:off x="6309360" y="1188720"/>
            <a:ext cx="73152" cy="1417320"/>
          </a:xfrm>
          <a:prstGeom prst="rect">
            <a:avLst/>
          </a:prstGeom>
          <a:solidFill>
            <a:srgbClr val="0E5F6B"/>
          </a:solidFill>
          <a:ln/>
        </p:spPr>
      </p:sp>
      <p:sp>
        <p:nvSpPr>
          <p:cNvPr id="11" name="Text 9"/>
          <p:cNvSpPr/>
          <p:nvPr/>
        </p:nvSpPr>
        <p:spPr>
          <a:xfrm>
            <a:off x="6510528" y="1316736"/>
            <a:ext cx="530352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研究準備性</a:t>
            </a:r>
            <a:endParaRPr lang="en-US" sz="1200" dirty="0"/>
          </a:p>
        </p:txBody>
      </p:sp>
      <p:sp>
        <p:nvSpPr>
          <p:cNvPr id="12" name="Text 10"/>
          <p:cNvSpPr/>
          <p:nvPr/>
        </p:nvSpPr>
        <p:spPr>
          <a:xfrm>
            <a:off x="6510528" y="1572768"/>
            <a:ext cx="5303520" cy="91440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教員批判に耐える透明な方法・出典・シナリオ仮定。</a:t>
            </a:r>
            <a:endParaRPr lang="en-US" sz="1100" dirty="0"/>
          </a:p>
        </p:txBody>
      </p:sp>
      <p:sp>
        <p:nvSpPr>
          <p:cNvPr id="13" name="Shape 11"/>
          <p:cNvSpPr/>
          <p:nvPr/>
        </p:nvSpPr>
        <p:spPr>
          <a:xfrm>
            <a:off x="457200" y="2743200"/>
            <a:ext cx="5623560" cy="1417320"/>
          </a:xfrm>
          <a:prstGeom prst="roundRect">
            <a:avLst>
              <a:gd name="adj" fmla="val 3871"/>
            </a:avLst>
          </a:prstGeom>
          <a:solidFill>
            <a:srgbClr val="FFFFFF"/>
          </a:solidFill>
          <a:ln w="12700">
            <a:solidFill>
              <a:srgbClr val="C5D2D4"/>
            </a:solidFill>
            <a:prstDash val="solid"/>
          </a:ln>
        </p:spPr>
      </p:sp>
      <p:sp>
        <p:nvSpPr>
          <p:cNvPr id="14" name="Shape 12"/>
          <p:cNvSpPr/>
          <p:nvPr/>
        </p:nvSpPr>
        <p:spPr>
          <a:xfrm>
            <a:off x="457200" y="2743200"/>
            <a:ext cx="73152" cy="1417320"/>
          </a:xfrm>
          <a:prstGeom prst="rect">
            <a:avLst/>
          </a:prstGeom>
          <a:solidFill>
            <a:srgbClr val="0E5F6B"/>
          </a:solidFill>
          <a:ln/>
        </p:spPr>
      </p:sp>
      <p:sp>
        <p:nvSpPr>
          <p:cNvPr id="15" name="Text 13"/>
          <p:cNvSpPr/>
          <p:nvPr/>
        </p:nvSpPr>
        <p:spPr>
          <a:xfrm>
            <a:off x="658368" y="2871216"/>
            <a:ext cx="530352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ポートフォリオ信号</a:t>
            </a:r>
            <a:endParaRPr lang="en-US" sz="1200" dirty="0"/>
          </a:p>
        </p:txBody>
      </p:sp>
      <p:sp>
        <p:nvSpPr>
          <p:cNvPr id="16" name="Text 14"/>
          <p:cNvSpPr/>
          <p:nvPr/>
        </p:nvSpPr>
        <p:spPr>
          <a:xfrm>
            <a:off x="658368" y="3127248"/>
            <a:ext cx="5303520" cy="91440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編入向け: 独立、空間的、政策意識、水を超えて拡張可能。</a:t>
            </a:r>
            <a:endParaRPr lang="en-US" sz="1100" dirty="0"/>
          </a:p>
        </p:txBody>
      </p:sp>
      <p:sp>
        <p:nvSpPr>
          <p:cNvPr id="17" name="Shape 15"/>
          <p:cNvSpPr/>
          <p:nvPr/>
        </p:nvSpPr>
        <p:spPr>
          <a:xfrm>
            <a:off x="6309360" y="2743200"/>
            <a:ext cx="5623560" cy="1417320"/>
          </a:xfrm>
          <a:prstGeom prst="roundRect">
            <a:avLst>
              <a:gd name="adj" fmla="val 3871"/>
            </a:avLst>
          </a:prstGeom>
          <a:solidFill>
            <a:srgbClr val="FFFFFF"/>
          </a:solidFill>
          <a:ln w="12700">
            <a:solidFill>
              <a:srgbClr val="C5D2D4"/>
            </a:solidFill>
            <a:prstDash val="solid"/>
          </a:ln>
        </p:spPr>
      </p:sp>
      <p:sp>
        <p:nvSpPr>
          <p:cNvPr id="18" name="Shape 16"/>
          <p:cNvSpPr/>
          <p:nvPr/>
        </p:nvSpPr>
        <p:spPr>
          <a:xfrm>
            <a:off x="6309360" y="2743200"/>
            <a:ext cx="73152" cy="1417320"/>
          </a:xfrm>
          <a:prstGeom prst="rect">
            <a:avLst/>
          </a:prstGeom>
          <a:solidFill>
            <a:srgbClr val="0E5F6B"/>
          </a:solidFill>
          <a:ln/>
        </p:spPr>
      </p:sp>
      <p:sp>
        <p:nvSpPr>
          <p:cNvPr id="19" name="Text 17"/>
          <p:cNvSpPr/>
          <p:nvPr/>
        </p:nvSpPr>
        <p:spPr>
          <a:xfrm>
            <a:off x="6510528" y="2871216"/>
            <a:ext cx="5303520" cy="256032"/>
          </a:xfrm>
          <a:prstGeom prst="rect">
            <a:avLst/>
          </a:prstGeom>
          <a:noFill/>
          <a:ln/>
        </p:spPr>
        <p:txBody>
          <a:bodyPr wrap="square" lIns="0" tIns="0" rIns="0" bIns="0" rtlCol="0" anchor="ctr"/>
          <a:lstStyle/>
          <a:p>
            <a:pPr indent="0" marL="0">
              <a:buNone/>
            </a:pPr>
            <a:r>
              <a:rPr lang="en-US" sz="1200" b="1" dirty="0">
                <a:solidFill>
                  <a:srgbClr val="0B1F33"/>
                </a:solidFill>
                <a:latin typeface="Arial" pitchFamily="34" charset="0"/>
                <a:ea typeface="Arial" pitchFamily="34" charset="-122"/>
                <a:cs typeface="Arial" pitchFamily="34" charset="-120"/>
              </a:rPr>
              <a:t>社会的価値</a:t>
            </a:r>
            <a:endParaRPr lang="en-US" sz="1200" dirty="0"/>
          </a:p>
        </p:txBody>
      </p:sp>
      <p:sp>
        <p:nvSpPr>
          <p:cNvPr id="20" name="Text 18"/>
          <p:cNvSpPr/>
          <p:nvPr/>
        </p:nvSpPr>
        <p:spPr>
          <a:xfrm>
            <a:off x="6510528" y="3127248"/>
            <a:ext cx="5303520" cy="914400"/>
          </a:xfrm>
          <a:prstGeom prst="rect">
            <a:avLst/>
          </a:prstGeom>
          <a:noFill/>
          <a:ln/>
        </p:spPr>
        <p:txBody>
          <a:bodyPr wrap="square" lIns="0" tIns="0" rIns="0" bIns="0" rtlCol="0" anchor="t"/>
          <a:lstStyle/>
          <a:p>
            <a:pPr indent="0" marL="0">
              <a:buNone/>
            </a:pPr>
            <a:r>
              <a:rPr lang="en-US" sz="1100" dirty="0">
                <a:solidFill>
                  <a:srgbClr val="5A6B73"/>
                </a:solidFill>
                <a:latin typeface="Arial" pitchFamily="34" charset="0"/>
                <a:ea typeface="Arial" pitchFamily="34" charset="-122"/>
                <a:cs typeface="Arial" pitchFamily="34" charset="-120"/>
              </a:rPr>
              <a:t>公式機関の承認を装わず、教育と市民議論を支える。</a:t>
            </a:r>
            <a:endParaRPr lang="en-US" sz="1100" dirty="0"/>
          </a:p>
        </p:txBody>
      </p:sp>
      <p:sp>
        <p:nvSpPr>
          <p:cNvPr id="21" name="Shape 19"/>
          <p:cNvSpPr/>
          <p:nvPr/>
        </p:nvSpPr>
        <p:spPr>
          <a:xfrm>
            <a:off x="0" y="4828032"/>
            <a:ext cx="12191695" cy="201168"/>
          </a:xfrm>
          <a:prstGeom prst="rect">
            <a:avLst/>
          </a:prstGeom>
          <a:solidFill>
            <a:srgbClr val="0B1F33"/>
          </a:solidFill>
          <a:ln/>
        </p:spPr>
      </p:sp>
      <p:sp>
        <p:nvSpPr>
          <p:cNvPr id="22" name="Text 20"/>
          <p:cNvSpPr/>
          <p:nvPr/>
        </p:nvSpPr>
        <p:spPr>
          <a:xfrm>
            <a:off x="365760" y="4846320"/>
            <a:ext cx="5486400" cy="164592"/>
          </a:xfrm>
          <a:prstGeom prst="rect">
            <a:avLst/>
          </a:prstGeom>
          <a:noFill/>
          <a:ln/>
        </p:spPr>
        <p:txBody>
          <a:bodyPr wrap="square" lIns="0" tIns="0" rIns="0" bIns="0" rtlCol="0" anchor="ctr"/>
          <a:lstStyle/>
          <a:p>
            <a:pPr indent="0" marL="0">
              <a:buNone/>
            </a:pPr>
            <a:r>
              <a:rPr lang="en-US" sz="800" b="1" dirty="0">
                <a:solidFill>
                  <a:srgbClr val="E8F2F3"/>
                </a:solidFill>
                <a:latin typeface="Arial" pitchFamily="34" charset="0"/>
                <a:ea typeface="Arial" pitchFamily="34" charset="-122"/>
                <a:cs typeface="Arial" pitchFamily="34" charset="-120"/>
              </a:rPr>
              <a:t>LA WATER SECURITY ATLAS</a:t>
            </a:r>
            <a:endParaRPr lang="en-US" sz="800" dirty="0"/>
          </a:p>
        </p:txBody>
      </p:sp>
      <p:sp>
        <p:nvSpPr>
          <p:cNvPr id="23" name="Text 21"/>
          <p:cNvSpPr/>
          <p:nvPr/>
        </p:nvSpPr>
        <p:spPr>
          <a:xfrm>
            <a:off x="7498080" y="4846320"/>
            <a:ext cx="4297680" cy="164592"/>
          </a:xfrm>
          <a:prstGeom prst="rect">
            <a:avLst/>
          </a:prstGeom>
          <a:noFill/>
          <a:ln/>
        </p:spPr>
        <p:txBody>
          <a:bodyPr wrap="square" lIns="0" tIns="0" rIns="0" bIns="0" rtlCol="0" anchor="ctr"/>
          <a:lstStyle/>
          <a:p>
            <a:pPr algn="r" indent="0" marL="0">
              <a:buNone/>
            </a:pPr>
            <a:r>
              <a:rPr lang="en-US" sz="800" dirty="0">
                <a:solidFill>
                  <a:srgbClr val="E8F2F3"/>
                </a:solidFill>
                <a:latin typeface="Arial" pitchFamily="34" charset="0"/>
                <a:ea typeface="Arial" pitchFamily="34" charset="-122"/>
                <a:cs typeface="Arial" pitchFamily="34" charset="-120"/>
              </a:rPr>
              <a:t>野澤カイ  ·  14 / 15</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5029200"/>
          </a:xfrm>
          <a:prstGeom prst="rect">
            <a:avLst/>
          </a:prstGeom>
          <a:solidFill>
            <a:srgbClr val="F4F6F5"/>
          </a:solidFill>
          <a:ln/>
        </p:spPr>
      </p:sp>
      <p:sp>
        <p:nvSpPr>
          <p:cNvPr id="3" name="Text 1"/>
          <p:cNvSpPr/>
          <p:nvPr/>
        </p:nvSpPr>
        <p:spPr>
          <a:xfrm>
            <a:off x="457200" y="256032"/>
            <a:ext cx="11247120" cy="256032"/>
          </a:xfrm>
          <a:prstGeom prst="rect">
            <a:avLst/>
          </a:prstGeom>
          <a:noFill/>
          <a:ln/>
        </p:spPr>
        <p:txBody>
          <a:bodyPr wrap="square" lIns="0" tIns="0" rIns="0" bIns="0" rtlCol="0" anchor="ctr"/>
          <a:lstStyle/>
          <a:p>
            <a:pPr indent="0" marL="0">
              <a:buNone/>
            </a:pPr>
            <a:r>
              <a:rPr lang="en-US" sz="1100" b="1" spc="200" kern="0" dirty="0">
                <a:solidFill>
                  <a:srgbClr val="0E5F6B"/>
                </a:solidFill>
                <a:latin typeface="Arial" pitchFamily="34" charset="0"/>
                <a:ea typeface="Arial" pitchFamily="34" charset="-122"/>
                <a:cs typeface="Arial" pitchFamily="34" charset="-120"/>
              </a:rPr>
              <a:t>フィードバック依頼</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400" b="1" dirty="0">
                <a:solidFill>
                  <a:srgbClr val="0B1F33"/>
                </a:solidFill>
                <a:latin typeface="Arial" pitchFamily="34" charset="0"/>
                <a:ea typeface="Arial" pitchFamily="34" charset="-122"/>
                <a:cs typeface="Arial" pitchFamily="34" charset="-120"/>
              </a:rPr>
              <a:t>教員に伺いたいこと</a:t>
            </a:r>
            <a:endParaRPr lang="en-US" sz="2400" dirty="0"/>
          </a:p>
        </p:txBody>
      </p:sp>
      <p:sp>
        <p:nvSpPr>
          <p:cNvPr id="5" name="Shape 3"/>
          <p:cNvSpPr/>
          <p:nvPr/>
        </p:nvSpPr>
        <p:spPr>
          <a:xfrm>
            <a:off x="457200" y="1143000"/>
            <a:ext cx="11247120" cy="475488"/>
          </a:xfrm>
          <a:prstGeom prst="roundRect">
            <a:avLst>
              <a:gd name="adj" fmla="val 7692"/>
            </a:avLst>
          </a:prstGeom>
          <a:solidFill>
            <a:srgbClr val="FFFFFF"/>
          </a:solidFill>
          <a:ln w="12700">
            <a:solidFill>
              <a:srgbClr val="C5D2D4"/>
            </a:solidFill>
            <a:prstDash val="solid"/>
          </a:ln>
        </p:spPr>
      </p:sp>
      <p:sp>
        <p:nvSpPr>
          <p:cNvPr id="6" name="Text 4"/>
          <p:cNvSpPr/>
          <p:nvPr/>
        </p:nvSpPr>
        <p:spPr>
          <a:xfrm>
            <a:off x="685800" y="1252728"/>
            <a:ext cx="10789920" cy="274320"/>
          </a:xfrm>
          <a:prstGeom prst="rect">
            <a:avLst/>
          </a:prstGeom>
          <a:noFill/>
          <a:ln/>
        </p:spPr>
        <p:txBody>
          <a:bodyPr wrap="square" lIns="0" tIns="0" rIns="0" bIns="0" rtlCol="0" anchor="ctr"/>
          <a:lstStyle/>
          <a:p>
            <a:pPr indent="0" marL="0">
              <a:buNone/>
            </a:pPr>
            <a:r>
              <a:rPr lang="en-US" sz="1300" dirty="0">
                <a:solidFill>
                  <a:srgbClr val="14233A"/>
                </a:solidFill>
                <a:latin typeface="Arial" pitchFamily="34" charset="0"/>
                <a:ea typeface="Arial" pitchFamily="34" charset="-122"/>
                <a:cs typeface="Arial" pitchFamily="34" charset="-120"/>
              </a:rPr>
              <a:t>1.  Phase 1 → Phase 3 の範囲は、強い独立プロジェクトとして現実的か。</a:t>
            </a:r>
            <a:endParaRPr lang="en-US" sz="1300" dirty="0"/>
          </a:p>
        </p:txBody>
      </p:sp>
      <p:sp>
        <p:nvSpPr>
          <p:cNvPr id="7" name="Shape 5"/>
          <p:cNvSpPr/>
          <p:nvPr/>
        </p:nvSpPr>
        <p:spPr>
          <a:xfrm>
            <a:off x="457200" y="1691640"/>
            <a:ext cx="11247120" cy="475488"/>
          </a:xfrm>
          <a:prstGeom prst="roundRect">
            <a:avLst>
              <a:gd name="adj" fmla="val 7692"/>
            </a:avLst>
          </a:prstGeom>
          <a:solidFill>
            <a:srgbClr val="FFFFFF"/>
          </a:solidFill>
          <a:ln w="12700">
            <a:solidFill>
              <a:srgbClr val="C5D2D4"/>
            </a:solidFill>
            <a:prstDash val="solid"/>
          </a:ln>
        </p:spPr>
      </p:sp>
      <p:sp>
        <p:nvSpPr>
          <p:cNvPr id="8" name="Text 6"/>
          <p:cNvSpPr/>
          <p:nvPr/>
        </p:nvSpPr>
        <p:spPr>
          <a:xfrm>
            <a:off x="685800" y="1801368"/>
            <a:ext cx="10789920" cy="274320"/>
          </a:xfrm>
          <a:prstGeom prst="rect">
            <a:avLst/>
          </a:prstGeom>
          <a:noFill/>
          <a:ln/>
        </p:spPr>
        <p:txBody>
          <a:bodyPr wrap="square" lIns="0" tIns="0" rIns="0" bIns="0" rtlCol="0" anchor="ctr"/>
          <a:lstStyle/>
          <a:p>
            <a:pPr indent="0" marL="0">
              <a:buNone/>
            </a:pPr>
            <a:r>
              <a:rPr lang="en-US" sz="1300" dirty="0">
                <a:solidFill>
                  <a:srgbClr val="14233A"/>
                </a:solidFill>
                <a:latin typeface="Arial" pitchFamily="34" charset="0"/>
                <a:ea typeface="Arial" pitchFamily="34" charset="-122"/>
                <a:cs typeface="Arial" pitchFamily="34" charset="-120"/>
              </a:rPr>
              <a:t>2.  公開総合と研究グレード分析のそれぞれで、最も信頼できるデータセットは何か。</a:t>
            </a:r>
            <a:endParaRPr lang="en-US" sz="1300" dirty="0"/>
          </a:p>
        </p:txBody>
      </p:sp>
      <p:sp>
        <p:nvSpPr>
          <p:cNvPr id="9" name="Shape 7"/>
          <p:cNvSpPr/>
          <p:nvPr/>
        </p:nvSpPr>
        <p:spPr>
          <a:xfrm>
            <a:off x="457200" y="2240280"/>
            <a:ext cx="11247120" cy="475488"/>
          </a:xfrm>
          <a:prstGeom prst="roundRect">
            <a:avLst>
              <a:gd name="adj" fmla="val 7692"/>
            </a:avLst>
          </a:prstGeom>
          <a:solidFill>
            <a:srgbClr val="FFFFFF"/>
          </a:solidFill>
          <a:ln w="12700">
            <a:solidFill>
              <a:srgbClr val="C5D2D4"/>
            </a:solidFill>
            <a:prstDash val="solid"/>
          </a:ln>
        </p:spPr>
      </p:sp>
      <p:sp>
        <p:nvSpPr>
          <p:cNvPr id="10" name="Text 8"/>
          <p:cNvSpPr/>
          <p:nvPr/>
        </p:nvSpPr>
        <p:spPr>
          <a:xfrm>
            <a:off x="685800" y="2350008"/>
            <a:ext cx="10789920" cy="274320"/>
          </a:xfrm>
          <a:prstGeom prst="rect">
            <a:avLst/>
          </a:prstGeom>
          <a:noFill/>
          <a:ln/>
        </p:spPr>
        <p:txBody>
          <a:bodyPr wrap="square" lIns="0" tIns="0" rIns="0" bIns="0" rtlCol="0" anchor="ctr"/>
          <a:lstStyle/>
          <a:p>
            <a:pPr indent="0" marL="0">
              <a:buNone/>
            </a:pPr>
            <a:r>
              <a:rPr lang="en-US" sz="1300" dirty="0">
                <a:solidFill>
                  <a:srgbClr val="14233A"/>
                </a:solidFill>
                <a:latin typeface="Arial" pitchFamily="34" charset="0"/>
                <a:ea typeface="Arial" pitchFamily="34" charset="-122"/>
                <a:cs typeface="Arial" pitchFamily="34" charset="-120"/>
              </a:rPr>
              <a:t>3.  有用な簡略化と誤解を招く地図表現の倫理的境界はどこか。</a:t>
            </a:r>
            <a:endParaRPr lang="en-US" sz="1300" dirty="0"/>
          </a:p>
        </p:txBody>
      </p:sp>
      <p:sp>
        <p:nvSpPr>
          <p:cNvPr id="11" name="Shape 9"/>
          <p:cNvSpPr/>
          <p:nvPr/>
        </p:nvSpPr>
        <p:spPr>
          <a:xfrm>
            <a:off x="457200" y="2788920"/>
            <a:ext cx="11247120" cy="475488"/>
          </a:xfrm>
          <a:prstGeom prst="roundRect">
            <a:avLst>
              <a:gd name="adj" fmla="val 7692"/>
            </a:avLst>
          </a:prstGeom>
          <a:solidFill>
            <a:srgbClr val="FFFFFF"/>
          </a:solidFill>
          <a:ln w="12700">
            <a:solidFill>
              <a:srgbClr val="C5D2D4"/>
            </a:solidFill>
            <a:prstDash val="solid"/>
          </a:ln>
        </p:spPr>
      </p:sp>
      <p:sp>
        <p:nvSpPr>
          <p:cNvPr id="12" name="Text 10"/>
          <p:cNvSpPr/>
          <p:nvPr/>
        </p:nvSpPr>
        <p:spPr>
          <a:xfrm>
            <a:off x="685800" y="2898648"/>
            <a:ext cx="10789920" cy="274320"/>
          </a:xfrm>
          <a:prstGeom prst="rect">
            <a:avLst/>
          </a:prstGeom>
          <a:noFill/>
          <a:ln/>
        </p:spPr>
        <p:txBody>
          <a:bodyPr wrap="square" lIns="0" tIns="0" rIns="0" bIns="0" rtlCol="0" anchor="ctr"/>
          <a:lstStyle/>
          <a:p>
            <a:pPr indent="0" marL="0">
              <a:buNone/>
            </a:pPr>
            <a:r>
              <a:rPr lang="en-US" sz="1300" dirty="0">
                <a:solidFill>
                  <a:srgbClr val="14233A"/>
                </a:solidFill>
                <a:latin typeface="Arial" pitchFamily="34" charset="0"/>
                <a:ea typeface="Arial" pitchFamily="34" charset="-122"/>
                <a:cs typeface="Arial" pitchFamily="34" charset="-120"/>
              </a:rPr>
              <a:t>4.  「なぜ」パネル（歴史、協定、水–エネルギー）で、まず優先すべきはどれか。</a:t>
            </a:r>
            <a:endParaRPr lang="en-US" sz="1300" dirty="0"/>
          </a:p>
        </p:txBody>
      </p:sp>
      <p:sp>
        <p:nvSpPr>
          <p:cNvPr id="13" name="Shape 11"/>
          <p:cNvSpPr/>
          <p:nvPr/>
        </p:nvSpPr>
        <p:spPr>
          <a:xfrm>
            <a:off x="457200" y="3337560"/>
            <a:ext cx="11247120" cy="475488"/>
          </a:xfrm>
          <a:prstGeom prst="roundRect">
            <a:avLst>
              <a:gd name="adj" fmla="val 7692"/>
            </a:avLst>
          </a:prstGeom>
          <a:solidFill>
            <a:srgbClr val="FFFFFF"/>
          </a:solidFill>
          <a:ln w="12700">
            <a:solidFill>
              <a:srgbClr val="C5D2D4"/>
            </a:solidFill>
            <a:prstDash val="solid"/>
          </a:ln>
        </p:spPr>
      </p:sp>
      <p:sp>
        <p:nvSpPr>
          <p:cNvPr id="14" name="Text 12"/>
          <p:cNvSpPr/>
          <p:nvPr/>
        </p:nvSpPr>
        <p:spPr>
          <a:xfrm>
            <a:off x="685800" y="3447288"/>
            <a:ext cx="10789920" cy="274320"/>
          </a:xfrm>
          <a:prstGeom prst="rect">
            <a:avLst/>
          </a:prstGeom>
          <a:noFill/>
          <a:ln/>
        </p:spPr>
        <p:txBody>
          <a:bodyPr wrap="square" lIns="0" tIns="0" rIns="0" bIns="0" rtlCol="0" anchor="ctr"/>
          <a:lstStyle/>
          <a:p>
            <a:pPr indent="0" marL="0">
              <a:buNone/>
            </a:pPr>
            <a:r>
              <a:rPr lang="en-US" sz="1300" dirty="0">
                <a:solidFill>
                  <a:srgbClr val="14233A"/>
                </a:solidFill>
                <a:latin typeface="Arial" pitchFamily="34" charset="0"/>
                <a:ea typeface="Arial" pitchFamily="34" charset="-122"/>
                <a:cs typeface="Arial" pitchFamily="34" charset="-120"/>
              </a:rPr>
              <a:t>5.  GIS 27／Independent Study／非公式メンタリングは、後に適切か。</a:t>
            </a:r>
            <a:endParaRPr lang="en-US" sz="1300" dirty="0"/>
          </a:p>
        </p:txBody>
      </p:sp>
      <p:sp>
        <p:nvSpPr>
          <p:cNvPr id="15" name="Shape 13"/>
          <p:cNvSpPr/>
          <p:nvPr/>
        </p:nvSpPr>
        <p:spPr>
          <a:xfrm>
            <a:off x="0" y="4828032"/>
            <a:ext cx="12191695" cy="201168"/>
          </a:xfrm>
          <a:prstGeom prst="rect">
            <a:avLst/>
          </a:prstGeom>
          <a:solidFill>
            <a:srgbClr val="0B1F33"/>
          </a:solidFill>
          <a:ln/>
        </p:spPr>
      </p:sp>
      <p:sp>
        <p:nvSpPr>
          <p:cNvPr id="16" name="Text 14"/>
          <p:cNvSpPr/>
          <p:nvPr/>
        </p:nvSpPr>
        <p:spPr>
          <a:xfrm>
            <a:off x="365760" y="4846320"/>
            <a:ext cx="5486400" cy="164592"/>
          </a:xfrm>
          <a:prstGeom prst="rect">
            <a:avLst/>
          </a:prstGeom>
          <a:noFill/>
          <a:ln/>
        </p:spPr>
        <p:txBody>
          <a:bodyPr wrap="square" lIns="0" tIns="0" rIns="0" bIns="0" rtlCol="0" anchor="ctr"/>
          <a:lstStyle/>
          <a:p>
            <a:pPr indent="0" marL="0">
              <a:buNone/>
            </a:pPr>
            <a:r>
              <a:rPr lang="en-US" sz="800" b="1" dirty="0">
                <a:solidFill>
                  <a:srgbClr val="E8F2F3"/>
                </a:solidFill>
                <a:latin typeface="Arial" pitchFamily="34" charset="0"/>
                <a:ea typeface="Arial" pitchFamily="34" charset="-122"/>
                <a:cs typeface="Arial" pitchFamily="34" charset="-120"/>
              </a:rPr>
              <a:t>LA WATER SECURITY ATLAS</a:t>
            </a:r>
            <a:endParaRPr lang="en-US" sz="800" dirty="0"/>
          </a:p>
        </p:txBody>
      </p:sp>
      <p:sp>
        <p:nvSpPr>
          <p:cNvPr id="17" name="Text 15"/>
          <p:cNvSpPr/>
          <p:nvPr/>
        </p:nvSpPr>
        <p:spPr>
          <a:xfrm>
            <a:off x="7498080" y="4846320"/>
            <a:ext cx="4297680" cy="164592"/>
          </a:xfrm>
          <a:prstGeom prst="rect">
            <a:avLst/>
          </a:prstGeom>
          <a:noFill/>
          <a:ln/>
        </p:spPr>
        <p:txBody>
          <a:bodyPr wrap="square" lIns="0" tIns="0" rIns="0" bIns="0" rtlCol="0" anchor="ctr"/>
          <a:lstStyle/>
          <a:p>
            <a:pPr algn="r" indent="0" marL="0">
              <a:buNone/>
            </a:pPr>
            <a:r>
              <a:rPr lang="en-US" sz="800" dirty="0">
                <a:solidFill>
                  <a:srgbClr val="E8F2F3"/>
                </a:solidFill>
                <a:latin typeface="Arial" pitchFamily="34" charset="0"/>
                <a:ea typeface="Arial" pitchFamily="34" charset="-122"/>
                <a:cs typeface="Arial" pitchFamily="34" charset="-120"/>
              </a:rPr>
              <a:t>野澤カイ  ·  15 / 15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Water Security Atlas — 教授向け事業計画・研究提案</dc:title>
  <dc:subject>LA Water Security Atlas — 教授向け事業計画・研究提案</dc:subject>
  <dc:creator>Kai Nozawa</dc:creator>
  <cp:lastModifiedBy>Kai Nozawa</cp:lastModifiedBy>
  <cp:revision>1</cp:revision>
  <dcterms:created xsi:type="dcterms:W3CDTF">2026-08-21T00:16:33Z</dcterms:created>
  <dcterms:modified xsi:type="dcterms:W3CDTF">2026-08-21T00:16:33Z</dcterms:modified>
</cp:coreProperties>
</file>